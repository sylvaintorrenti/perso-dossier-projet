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462" r:id="rId3"/>
    <p:sldId id="369" r:id="rId4"/>
    <p:sldId id="328" r:id="rId5"/>
    <p:sldId id="463" r:id="rId6"/>
    <p:sldId id="261" r:id="rId7"/>
    <p:sldId id="464" r:id="rId8"/>
    <p:sldId id="262" r:id="rId9"/>
    <p:sldId id="465" r:id="rId10"/>
    <p:sldId id="272" r:id="rId11"/>
    <p:sldId id="466" r:id="rId12"/>
    <p:sldId id="273" r:id="rId13"/>
    <p:sldId id="467" r:id="rId14"/>
    <p:sldId id="339" r:id="rId15"/>
    <p:sldId id="468" r:id="rId16"/>
    <p:sldId id="469" r:id="rId17"/>
    <p:sldId id="263" r:id="rId18"/>
    <p:sldId id="470" r:id="rId19"/>
    <p:sldId id="471" r:id="rId20"/>
    <p:sldId id="472" r:id="rId21"/>
    <p:sldId id="473" r:id="rId22"/>
    <p:sldId id="474" r:id="rId23"/>
    <p:sldId id="276" r:id="rId24"/>
    <p:sldId id="475" r:id="rId25"/>
    <p:sldId id="277" r:id="rId26"/>
    <p:sldId id="476" r:id="rId27"/>
    <p:sldId id="278" r:id="rId28"/>
    <p:sldId id="477" r:id="rId29"/>
    <p:sldId id="355" r:id="rId30"/>
    <p:sldId id="478" r:id="rId31"/>
    <p:sldId id="280" r:id="rId32"/>
    <p:sldId id="479" r:id="rId33"/>
    <p:sldId id="281" r:id="rId34"/>
    <p:sldId id="480" r:id="rId35"/>
    <p:sldId id="282" r:id="rId36"/>
    <p:sldId id="48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652" autoAdjust="0"/>
  </p:normalViewPr>
  <p:slideViewPr>
    <p:cSldViewPr snapToGrid="0">
      <p:cViewPr varScale="1">
        <p:scale>
          <a:sx n="105" d="100"/>
          <a:sy n="105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B43A217-3B50-348A-1423-3B473A30DD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1CC9A4D-8873-AC94-5127-8E3B732A69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5260E5-9465-41D2-AB2A-DDA90BA045BF}" type="datetimeFigureOut">
              <a:rPr lang="fr-FR" smtClean="0"/>
              <a:t>19/08/2025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CAB0C7-DE1E-09DE-692E-137645D716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F5DA57-BC2F-E591-A2DE-BD4E92A969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4DBAE-1E77-466C-838F-003F303169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195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90321-2C3F-4AF6-B762-32E89DF31627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E703D-280E-425D-BEA9-689C35D44F0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24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378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36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FA870-F4F5-D5DE-9F41-CBF9AF46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370387E-DE1A-B7B3-7A19-20E315ABC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CBD6ED-3248-9FF7-D193-090DE0DDC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0488B0-ED95-F581-342A-79D809AF6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919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Rapide explication de FIGMA</a:t>
            </a:r>
          </a:p>
          <a:p>
            <a:r>
              <a:rPr lang="fr-FR" dirty="0"/>
              <a:t>Facilité de partage</a:t>
            </a:r>
          </a:p>
          <a:p>
            <a:r>
              <a:rPr lang="fr-FR" dirty="0"/>
              <a:t>Design pas </a:t>
            </a:r>
            <a:r>
              <a:rPr lang="fr-FR" dirty="0" err="1"/>
              <a:t>definitif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98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36FD-6A28-4267-F905-31FA63B8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BCF85C7-9D28-EDFF-B75B-45D10DCE1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DB9DA1B-759C-4766-D0D0-E57D3A620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971C1B-B9D2-C351-175A-015963E8B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156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Expliquation</a:t>
            </a:r>
            <a:r>
              <a:rPr lang="fr-FR" dirty="0"/>
              <a:t> de DBeaver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030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1EDA9-237D-EDF3-11B6-FEE8B33E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39D39F1-B8A5-1319-4A99-C0702F917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225843F-FB8F-FFE3-D2C8-65DF2B0A4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024750-23E8-6F74-7197-037DF0E41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601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Explication rapide du script</a:t>
            </a:r>
            <a:endParaRPr lang="en-GB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97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65552-4773-1621-8220-5DB05FDB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EA1106A-3946-344C-BDE5-BA4426CF4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A5B255E-8C8B-2371-A2CD-18941F524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6B3F7B-51E5-825B-D964-2C0311BF1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63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Explication rapide du diagramme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744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CE842-BBEA-0893-65B1-F2135A91A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8F39C5-BB3E-6029-014A-7832E64A9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9339EE9-233F-5523-AB28-73CEA6721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757728-07A9-FC14-14A4-8198835BB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167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Explication rapide du diagramme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96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41FD9-E08E-D34E-3A67-2764AE8E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F7BA0CE-957A-BE19-CFE7-CB31A47D1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F286738-AECB-8D11-D10C-49DB6E666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66A09C-8354-28E4-3C0A-7F9560308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599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Donner infos sur </a:t>
            </a:r>
            <a:r>
              <a:rPr lang="fr-FR" dirty="0" err="1"/>
              <a:t>laravel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834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87F8-2736-5187-9BD7-90730212D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2978ED-6717-63B4-7176-AED6CD74A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F40413-142E-56E5-D637-7CF5E41C9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BC14BF-BF5E-77A4-D4DC-F2304CE26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457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Explication générale des routes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Détail plus tard</a:t>
            </a:r>
            <a:endParaRPr lang="en-GB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617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C304-D9F5-618B-A4E9-2628B3767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45F22C-F46F-C557-698A-670EA92F4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ACB521-D8CC-30B6-1852-051668769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A2C18F-41C3-B6F3-C886-BD05E6A71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22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Explication générale des vues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Détail plus tard tout comme les routes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En précisant que l’on peut changer selon l’utilisateur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Contenir formulaire d’authentification</a:t>
            </a:r>
            <a:endParaRPr lang="en-GB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23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2CD73-A30E-EC2C-3278-5205BAB8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1C8BC0-EA25-D9B4-D147-2ED6A7D33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39FB37B-7ECE-FD31-056F-959692CA1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5A66BA-BED6-FFE7-4CC0-A815AD5C5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408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Explication de la vue avec changement authentifier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412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27DA-2F82-DF92-EE75-63ED78B1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D797AE0-615F-B34F-6F02-91B41B067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3ADB1C-0C23-2C16-B498-7F5A3E8A3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F86AE3-933D-9EE7-083B-5611EA7BB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650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Explication de la vue avec changement authentifier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851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71CA-1EB7-5B88-B10A-121B62EF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98923D1-AD1C-3DBD-8967-601E07308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7034AED-E977-7C24-F915-3C7F6157F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A6647-1514-D2AE-CBA0-F83EF3E85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898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Explication rapide de la vue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134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29FD-8104-D9F1-FEA9-5AD2503C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1A812AA-94AE-6261-5456-FB3C7A56F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FACB18E-D51E-0FE6-F63F-BCA4A879B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02F687-79AC-5F25-DB36-C23B94D01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009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Explication rapide de la vue</a:t>
            </a:r>
            <a:endParaRPr lang="en-GB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9777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2C0F-A7B7-5104-E211-CAA0C8A0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6D8AA3C-DC3E-9C6D-34A6-5659080A6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E91458-32C2-C029-A816-82CAA6ED6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du sommaire.</a:t>
            </a:r>
          </a:p>
          <a:p>
            <a:r>
              <a:rPr lang="fr-FR" dirty="0"/>
              <a:t>Dire que </a:t>
            </a:r>
            <a:r>
              <a:rPr lang="fr-FR" dirty="0" err="1"/>
              <a:t>ds</a:t>
            </a:r>
            <a:r>
              <a:rPr lang="fr-FR" dirty="0"/>
              <a:t> intro on traitera des </a:t>
            </a:r>
            <a:r>
              <a:rPr lang="fr-FR" dirty="0" err="1"/>
              <a:t>comp</a:t>
            </a:r>
            <a:r>
              <a:rPr lang="fr-FR" dirty="0"/>
              <a:t> couverte par projet</a:t>
            </a:r>
          </a:p>
          <a:p>
            <a:r>
              <a:rPr lang="fr-FR" dirty="0"/>
              <a:t>De la recherche en anglais</a:t>
            </a:r>
          </a:p>
          <a:p>
            <a:r>
              <a:rPr lang="fr-FR" dirty="0"/>
              <a:t>Présenter rapidement projet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039941-DB5D-4CD2-7551-A6D94B65B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3954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Explication rapide de la vue</a:t>
            </a:r>
            <a:endParaRPr lang="en-GB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78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CA324-3F1A-26D5-183D-8B0C1EE5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C3E5245-0316-CDCB-E3C5-F4F8448CE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AB49A7-291F-8877-B72C-7E7BD1252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Explication rapide de la vue</a:t>
            </a:r>
            <a:endParaRPr lang="en-GB" dirty="0"/>
          </a:p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91B433-3D04-4E1A-F36E-4A6D1080A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E703D-280E-425D-BEA9-689C35D44F04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41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BBE7B6-0263-79E5-FE55-24AAD1D74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903EC8-2CE8-296D-7AB4-AD9E9764C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FB331D-C4EC-6427-26B4-C8DFE946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E634DF-F453-D7D1-7370-D56C77C5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8A14D2-4004-38CC-C3E6-D763D2C8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311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3619CC-FFC2-2B71-7918-2E60276C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88C567-2754-9BFE-2876-1911E997E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98F917-0B33-0B57-73CD-9853F5209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BAA8C5-8E75-687F-C69E-E9C9817E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C0020E-1F15-E834-DFBD-956F4485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41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BB4B2D-1600-18EB-047A-D99828A1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4C22C5-0B96-3CA6-FFCC-23DAA28E2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4808B2-8612-5D21-0030-C9B42C84B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DF4C33-7C2A-830E-698A-CFE5AE58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92B32F-E2AB-3FFB-05DE-5EBA441B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47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EA90B6-1079-779E-4B9F-136F62FE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E2565-A866-1E2F-BD38-30B23D63A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A5A28A1-CE5B-2227-538D-F1FABA205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22EB94-9881-71AE-18E1-A60C74F7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E7330C-3223-C4BA-8E0C-3B68FF28A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34CDA3-BA41-C060-A21B-E797E2EF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63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3E6C7F-ADA5-4662-A1A0-874E0D4A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6E0C1-6AEF-64E5-8795-316D17756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5CAF5C4-F114-C0E4-0268-67C159C98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D477A40-D4BA-577C-38E1-F14136F58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1C64D84-02D2-3655-381C-0F1E04A46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76B1312-6E8C-2E6F-060E-D1B6DD5F8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9FC42DC-CD07-EBFD-0CA8-5582CD54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96B441E-893F-75B8-5D34-A73F65FC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86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B17FE1-EAE4-719A-EF20-36EAD19F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69B226-AB57-5AD2-7291-8A33B53D4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8D3FCD9-920D-A8D9-9FAC-BE61D1A80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E7A718-E828-E4F7-684C-CB87D1AD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27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35E58B-75D0-A7E2-DAF2-F02BC665A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C504A3B-F359-657C-99A9-60ACDBBB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ABE25F-0038-9675-74FA-21F2972C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77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3E5846-5969-FB7D-7BA8-8015678FA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8BD015-46F9-5047-4F4A-77817F755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CEB790-B668-0ADC-533A-0AE564C10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A7A53F-A11D-D952-9A4D-EEF00C98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2DE7B7-B41D-84B0-B0CA-F81C53B76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0137F5-5FF2-7068-56A8-B5BDAA02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4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45AF66-7874-AA2F-A316-51B7EE431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8F9B111-45A5-8F3B-D5D9-8BECF4EA2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0E966C-FD7D-D4BF-1415-18581F16D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6B73F2-9E8B-5B96-62B1-12E88818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871F3F-A9E6-2478-1004-66D14115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C395A5-D356-375F-ECDE-D6404A5E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03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5CA0ED-1DBA-629A-AC96-DF67E935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C2FF77-2088-C1C6-43D0-4F08035FE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B8F966-8355-43A9-EF26-E30ACB98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16/05/2024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682290-43A8-5C90-6329-6C9856BDA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B18869-6682-1C01-0C53-1F4DF6E6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543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7429BC5-1377-0FF9-13DF-13133F04F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F58197-29F0-8AB5-C04A-C1DB91871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A8469B-A508-E451-2E4F-355459AF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4164-3215-41C6-AF44-2D3F069E0207}" type="datetime1">
              <a:rPr lang="en-GB" smtClean="0"/>
              <a:t>19/08/2025</a:t>
            </a:fld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0FE885-D9D7-DD27-35AC-E544419F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174449-D3BF-1E7F-87CC-A0892CB0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73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757DBE-7F58-24C0-DE49-128FAD139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16/05/2024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727394-2C98-E3B8-3AB4-3CDB3FA83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Sylvain TORRENTI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8AFEEC-0970-F34D-82BF-DBEB716A3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8454D-D9BB-46A6-B6D5-A8FBEF343251}" type="slidenum">
              <a:rPr lang="en-GB" smtClean="0"/>
              <a:t>‹N°›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3EECEC-710E-FB9C-8953-793D0B1F5D93}"/>
              </a:ext>
            </a:extLst>
          </p:cNvPr>
          <p:cNvSpPr/>
          <p:nvPr userDrawn="1"/>
        </p:nvSpPr>
        <p:spPr>
          <a:xfrm>
            <a:off x="0" y="1"/>
            <a:ext cx="12192000" cy="13965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Image 7" descr="Une image contenant texte, cercle, diagramme, conception&#10;&#10;Description générée automatiquement">
            <a:extLst>
              <a:ext uri="{FF2B5EF4-FFF2-40B4-BE49-F238E27FC236}">
                <a16:creationId xmlns:a16="http://schemas.microsoft.com/office/drawing/2014/main" id="{3A1C1587-0134-5F9F-6EBC-4E84C62958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8775" cy="1524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16D3631-E0E9-1E45-DF25-C49BFD4D4F6C}"/>
              </a:ext>
            </a:extLst>
          </p:cNvPr>
          <p:cNvSpPr txBox="1"/>
          <p:nvPr userDrawn="1"/>
        </p:nvSpPr>
        <p:spPr>
          <a:xfrm>
            <a:off x="2930218" y="130978"/>
            <a:ext cx="83596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Présentation du projet de recherche d’alternance</a:t>
            </a:r>
            <a:endParaRPr lang="en-GB" sz="3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CAC00E5-FA3F-165F-C046-4C02470DAAFD}"/>
              </a:ext>
            </a:extLst>
          </p:cNvPr>
          <p:cNvSpPr txBox="1"/>
          <p:nvPr userDrawn="1"/>
        </p:nvSpPr>
        <p:spPr>
          <a:xfrm>
            <a:off x="6231442" y="698270"/>
            <a:ext cx="175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Module GDN100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58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E834B57-B9C6-083D-A340-D8F6C5A81655}"/>
              </a:ext>
            </a:extLst>
          </p:cNvPr>
          <p:cNvSpPr txBox="1"/>
          <p:nvPr/>
        </p:nvSpPr>
        <p:spPr>
          <a:xfrm>
            <a:off x="2612103" y="1596904"/>
            <a:ext cx="69678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4000" dirty="0"/>
              <a:t>Projet de recherche d’alternance</a:t>
            </a:r>
            <a:endParaRPr lang="en-GB" sz="4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8099214-2B92-476D-B06E-02380AC72AE5}"/>
              </a:ext>
            </a:extLst>
          </p:cNvPr>
          <p:cNvSpPr txBox="1"/>
          <p:nvPr/>
        </p:nvSpPr>
        <p:spPr>
          <a:xfrm>
            <a:off x="2012991" y="2803830"/>
            <a:ext cx="845962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Présentation du projet de recherche</a:t>
            </a:r>
          </a:p>
          <a:p>
            <a:pPr algn="ctr"/>
            <a:r>
              <a:rPr lang="fr-FR" sz="4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d’alternance</a:t>
            </a:r>
            <a:endParaRPr lang="en-GB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sz="4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1FA9B9F-33BF-8F14-91E0-7A86D387E1C8}"/>
              </a:ext>
            </a:extLst>
          </p:cNvPr>
          <p:cNvSpPr txBox="1"/>
          <p:nvPr/>
        </p:nvSpPr>
        <p:spPr>
          <a:xfrm>
            <a:off x="4276109" y="4558156"/>
            <a:ext cx="442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Examen du module GDN100 du 20 aout 2025</a:t>
            </a:r>
            <a:endParaRPr lang="en-GB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5629AED-AAF8-CDD5-F6DF-BCC097EFA0DA}"/>
              </a:ext>
            </a:extLst>
          </p:cNvPr>
          <p:cNvSpPr txBox="1"/>
          <p:nvPr/>
        </p:nvSpPr>
        <p:spPr>
          <a:xfrm>
            <a:off x="4728766" y="5261096"/>
            <a:ext cx="27344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Sylvain TORRENTI</a:t>
            </a:r>
          </a:p>
          <a:p>
            <a:pPr algn="ctr"/>
            <a:r>
              <a:rPr lang="fr-FR" sz="1600" dirty="0"/>
              <a:t>Promotion LIG 03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87095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050686-0C97-DA2A-BDA2-B749524E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B03624-CAFB-0D76-6D32-3A322983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</a:t>
            </a:fld>
            <a:endParaRPr lang="en-GB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D53EB1F-470C-A804-C355-8BFD31D20C96}"/>
              </a:ext>
            </a:extLst>
          </p:cNvPr>
          <p:cNvSpPr txBox="1"/>
          <p:nvPr/>
        </p:nvSpPr>
        <p:spPr>
          <a:xfrm>
            <a:off x="552262" y="2509243"/>
            <a:ext cx="2384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Recherche d’alternance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EE45858-D683-5501-71D7-B9A064E0314C}"/>
              </a:ext>
            </a:extLst>
          </p:cNvPr>
          <p:cNvSpPr txBox="1"/>
          <p:nvPr/>
        </p:nvSpPr>
        <p:spPr>
          <a:xfrm>
            <a:off x="552262" y="4046899"/>
            <a:ext cx="3829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Date de commencement : 10 juin 2024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3AC5C74-DE9C-9C32-3E47-3E61FC872C15}"/>
              </a:ext>
            </a:extLst>
          </p:cNvPr>
          <p:cNvSpPr txBox="1"/>
          <p:nvPr/>
        </p:nvSpPr>
        <p:spPr>
          <a:xfrm>
            <a:off x="552262" y="5578481"/>
            <a:ext cx="4846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Chef de projet et commanditaire : Torrenti Sylvain</a:t>
            </a:r>
          </a:p>
        </p:txBody>
      </p:sp>
      <p:pic>
        <p:nvPicPr>
          <p:cNvPr id="3" name="Image 2" descr="Une image contenant texte, Police, affiche, graphisme&#10;&#10;Le contenu généré par l’IA peut être incorrect.">
            <a:extLst>
              <a:ext uri="{FF2B5EF4-FFF2-40B4-BE49-F238E27FC236}">
                <a16:creationId xmlns:a16="http://schemas.microsoft.com/office/drawing/2014/main" id="{F23FEF42-82E0-847A-7516-66DEF994E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148" y="1694463"/>
            <a:ext cx="5686552" cy="272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98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3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AA3FB9-B037-67A9-EB48-5983AE70877D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F1111F0-B326-FD3F-3BB3-0C1E464AD786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EB9D4C3-9040-5B1F-7736-C0388FD3B01F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009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B9F103-0396-CBCA-F928-178BCD13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14AABE-5BDE-ED85-8229-92F15BA2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4</a:t>
            </a:fld>
            <a:endParaRPr lang="en-GB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597E5A3-942D-ABE0-64A2-ED9A16579B5B}"/>
              </a:ext>
            </a:extLst>
          </p:cNvPr>
          <p:cNvSpPr txBox="1"/>
          <p:nvPr/>
        </p:nvSpPr>
        <p:spPr>
          <a:xfrm>
            <a:off x="1167897" y="2413337"/>
            <a:ext cx="39026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Titre du projet : Recherche d’alternance</a:t>
            </a:r>
          </a:p>
          <a:p>
            <a:endParaRPr lang="fr-FR" dirty="0"/>
          </a:p>
          <a:p>
            <a:r>
              <a:rPr lang="fr-FR" dirty="0"/>
              <a:t>Date de début : 10 juin 2024</a:t>
            </a:r>
          </a:p>
          <a:p>
            <a:endParaRPr lang="fr-FR" dirty="0"/>
          </a:p>
          <a:p>
            <a:r>
              <a:rPr lang="fr-FR" dirty="0"/>
              <a:t>Chef de projet : Torrenti Sylvain</a:t>
            </a:r>
          </a:p>
          <a:p>
            <a:endParaRPr lang="fr-FR" dirty="0"/>
          </a:p>
          <a:p>
            <a:r>
              <a:rPr lang="fr-FR" dirty="0"/>
              <a:t>Commanditaire : Torrenti Sylvain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D0D3F09-ED99-3D72-1F79-6D3AC12ABBC3}"/>
              </a:ext>
            </a:extLst>
          </p:cNvPr>
          <p:cNvSpPr txBox="1"/>
          <p:nvPr/>
        </p:nvSpPr>
        <p:spPr>
          <a:xfrm>
            <a:off x="0" y="1510019"/>
            <a:ext cx="2768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Informations générales :</a:t>
            </a:r>
          </a:p>
        </p:txBody>
      </p:sp>
    </p:spTree>
    <p:extLst>
      <p:ext uri="{BB962C8B-B14F-4D97-AF65-F5344CB8AC3E}">
        <p14:creationId xmlns:p14="http://schemas.microsoft.com/office/powerpoint/2010/main" val="206698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12D90-26D7-7986-B04D-74AF9AE8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EC6E3AB-48F6-EA89-9A3D-EDB2DECDB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077977-BFBA-17E2-C0BF-953EE1D6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5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75EB2DE-6DE4-EACC-FE32-A1D182DA6BD6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1AA5C0D-D680-2676-B510-C85B470818FE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>
                <a:solidFill>
                  <a:schemeClr val="accent2"/>
                </a:solidFill>
              </a:rPr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282F4D7-1C0F-03ED-A5F7-2A7B3F8DEA5B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9158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6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AA3FB9-B037-67A9-EB48-5983AE70877D}"/>
              </a:ext>
            </a:extLst>
          </p:cNvPr>
          <p:cNvSpPr txBox="1"/>
          <p:nvPr/>
        </p:nvSpPr>
        <p:spPr>
          <a:xfrm>
            <a:off x="0" y="1510019"/>
            <a:ext cx="28533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Contexte et justification :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D4C3E1-BD5B-EB17-B88C-4DC0C0746E76}"/>
              </a:ext>
            </a:extLst>
          </p:cNvPr>
          <p:cNvSpPr txBox="1"/>
          <p:nvPr/>
        </p:nvSpPr>
        <p:spPr>
          <a:xfrm>
            <a:off x="1061252" y="2209046"/>
            <a:ext cx="7225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Trouver un contrat d’apprentissage pour la licence informatique 2024/2025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06800E8-E067-E2F9-40E2-4CC83A283602}"/>
              </a:ext>
            </a:extLst>
          </p:cNvPr>
          <p:cNvSpPr txBox="1"/>
          <p:nvPr/>
        </p:nvSpPr>
        <p:spPr>
          <a:xfrm>
            <a:off x="1061252" y="3303389"/>
            <a:ext cx="573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Permettre la poursuite du parcours après une reconversion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02D47DD-3911-C7B0-B328-12CD69118E4F}"/>
              </a:ext>
            </a:extLst>
          </p:cNvPr>
          <p:cNvSpPr txBox="1"/>
          <p:nvPr/>
        </p:nvSpPr>
        <p:spPr>
          <a:xfrm>
            <a:off x="1061252" y="4397732"/>
            <a:ext cx="1321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Institut 2ISA</a:t>
            </a:r>
          </a:p>
        </p:txBody>
      </p:sp>
      <p:pic>
        <p:nvPicPr>
          <p:cNvPr id="10" name="Image 9" descr="Une image contenant Post-it, écriture manuscrite, Dessin d’enfant, fournitures de bureau&#10;&#10;Le contenu généré par l’IA peut être incorrect.">
            <a:extLst>
              <a:ext uri="{FF2B5EF4-FFF2-40B4-BE49-F238E27FC236}">
                <a16:creationId xmlns:a16="http://schemas.microsoft.com/office/drawing/2014/main" id="{48817280-CB13-EACD-44E4-9D3DD4DB3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384" y="3116325"/>
            <a:ext cx="4291364" cy="214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5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19A9B-3334-78C9-3219-13454E8B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5AC3A6-49B4-B593-4F54-56FB2BE3D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C34498-A39A-F4FF-AB74-D0E03991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7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52C1B16-D5A7-6133-2731-9097D21A1E33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5941E9D-D95E-FBFC-2C32-8BE589466B58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A1E27A2-C2BC-0B12-1094-A29FF3F17BD6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265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8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AA3FB9-B037-67A9-EB48-5983AE70877D}"/>
              </a:ext>
            </a:extLst>
          </p:cNvPr>
          <p:cNvSpPr txBox="1"/>
          <p:nvPr/>
        </p:nvSpPr>
        <p:spPr>
          <a:xfrm>
            <a:off x="0" y="1510019"/>
            <a:ext cx="2196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Objectif du projet 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FD10640-D40B-6C22-7D53-45AC512F81C3}"/>
              </a:ext>
            </a:extLst>
          </p:cNvPr>
          <p:cNvSpPr txBox="1"/>
          <p:nvPr/>
        </p:nvSpPr>
        <p:spPr>
          <a:xfrm>
            <a:off x="1593003" y="3059668"/>
            <a:ext cx="6164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Entrer en contact avec des entreprises recherchant un alternant</a:t>
            </a:r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77F1F62-61E0-1CC8-B696-47CE086D8DAA}"/>
              </a:ext>
            </a:extLst>
          </p:cNvPr>
          <p:cNvSpPr txBox="1"/>
          <p:nvPr/>
        </p:nvSpPr>
        <p:spPr>
          <a:xfrm>
            <a:off x="1525225" y="4186780"/>
            <a:ext cx="680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0" dirty="0">
                <a:effectLst/>
              </a:rPr>
              <a:t>Identifier des améliorations dans la recherche pour les futurs alternant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0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5037-1EF2-5F5E-EBEB-E4753CBA2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616665-27E3-68C3-CCB6-996C5B9A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B1B762-9823-9274-349A-CF4B67AA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9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FD4F7CC-A453-BE64-7B8A-D8457AC68A9E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0424CF3-858B-7BCD-3853-9F68B9CABE15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D715835-682A-7643-BC37-3414A3B911AA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35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10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AA3FB9-B037-67A9-EB48-5983AE70877D}"/>
              </a:ext>
            </a:extLst>
          </p:cNvPr>
          <p:cNvSpPr txBox="1"/>
          <p:nvPr/>
        </p:nvSpPr>
        <p:spPr>
          <a:xfrm>
            <a:off x="0" y="1510019"/>
            <a:ext cx="2176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Parties prenantes 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FB2194-75FC-A323-E00E-E576BE60DB29}"/>
              </a:ext>
            </a:extLst>
          </p:cNvPr>
          <p:cNvSpPr txBox="1"/>
          <p:nvPr/>
        </p:nvSpPr>
        <p:spPr>
          <a:xfrm>
            <a:off x="4794874" y="2090287"/>
            <a:ext cx="2602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Parties prenantes initiales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01A5DD9-523B-E6CF-8B7A-AECDFE273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62314"/>
              </p:ext>
            </p:extLst>
          </p:nvPr>
        </p:nvGraphicFramePr>
        <p:xfrm>
          <a:off x="1189464" y="2542608"/>
          <a:ext cx="9813072" cy="35460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1024">
                  <a:extLst>
                    <a:ext uri="{9D8B030D-6E8A-4147-A177-3AD203B41FA5}">
                      <a16:colId xmlns:a16="http://schemas.microsoft.com/office/drawing/2014/main" val="572690079"/>
                    </a:ext>
                  </a:extLst>
                </a:gridCol>
                <a:gridCol w="3271024">
                  <a:extLst>
                    <a:ext uri="{9D8B030D-6E8A-4147-A177-3AD203B41FA5}">
                      <a16:colId xmlns:a16="http://schemas.microsoft.com/office/drawing/2014/main" val="42384770"/>
                    </a:ext>
                  </a:extLst>
                </a:gridCol>
                <a:gridCol w="3271024">
                  <a:extLst>
                    <a:ext uri="{9D8B030D-6E8A-4147-A177-3AD203B41FA5}">
                      <a16:colId xmlns:a16="http://schemas.microsoft.com/office/drawing/2014/main" val="3859271599"/>
                    </a:ext>
                  </a:extLst>
                </a:gridCol>
              </a:tblGrid>
              <a:tr h="38599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Partie prenante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Rôle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Contact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202039"/>
                  </a:ext>
                </a:extLst>
              </a:tr>
              <a:tr h="38599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Torrenti Sylvain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Décision finale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sylvain.torrenti@gmail.com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4050247"/>
                  </a:ext>
                </a:extLst>
              </a:tr>
              <a:tr h="38599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Nicole Reverdy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Directrice OFA-AMIO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nicole.reverdy@2isa.com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0210064"/>
                  </a:ext>
                </a:extLst>
              </a:tr>
              <a:tr h="161610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Laurence Pruvot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Chargée des relations entreprises, communication et coordinatrice filière insertion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laurence.pruvot@2isa.com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7451575"/>
                  </a:ext>
                </a:extLst>
              </a:tr>
              <a:tr h="38599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Dylan Perez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Conseiller en insertion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dylan.perez@2isa.com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1243847"/>
                  </a:ext>
                </a:extLst>
              </a:tr>
              <a:tr h="38599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Départements RH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Décision de contrat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Variable selon l’entreprise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9823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35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0CE7-E85A-9743-BE89-8BCC076CE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6E4C40-350F-C687-0432-6386A4ED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162AD67-2D60-5230-58FB-9EBBC70B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11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E44C4F9-C802-5077-0C25-D9ADC1352EA4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DD1CF9E-0165-F433-E999-65963C45A8C9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3E55DF8-B1C6-434D-7119-A2E27DD9D515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6265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12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AA3FB9-B037-67A9-EB48-5983AE70877D}"/>
              </a:ext>
            </a:extLst>
          </p:cNvPr>
          <p:cNvSpPr txBox="1"/>
          <p:nvPr/>
        </p:nvSpPr>
        <p:spPr>
          <a:xfrm>
            <a:off x="0" y="1510019"/>
            <a:ext cx="2434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Budget Prévisionnel 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F2F4B28-712D-B781-7CDC-F370531D3415}"/>
              </a:ext>
            </a:extLst>
          </p:cNvPr>
          <p:cNvSpPr txBox="1"/>
          <p:nvPr/>
        </p:nvSpPr>
        <p:spPr>
          <a:xfrm>
            <a:off x="723244" y="2264284"/>
            <a:ext cx="57831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Toutes les actions du chef de projet sont réalisées sur son temps personnel</a:t>
            </a:r>
          </a:p>
          <a:p>
            <a:endParaRPr lang="fr-FR" dirty="0"/>
          </a:p>
          <a:p>
            <a:r>
              <a:rPr lang="fr-FR" dirty="0"/>
              <a:t>Les tâches effectuées par les autres parties prenantes sont effectuées sur leur temps de travail</a:t>
            </a:r>
          </a:p>
          <a:p>
            <a:endParaRPr lang="en-GB" dirty="0"/>
          </a:p>
          <a:p>
            <a:r>
              <a:rPr lang="fr-FR" noProof="0" dirty="0"/>
              <a:t>Le taux moyen est de 7h/jour à hauteur de 9,4 euros/heure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1C8799B0-B6E8-74AB-5E0E-486AEDE45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470327"/>
              </p:ext>
            </p:extLst>
          </p:nvPr>
        </p:nvGraphicFramePr>
        <p:xfrm>
          <a:off x="3055620" y="4444969"/>
          <a:ext cx="5554980" cy="1474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8490">
                  <a:extLst>
                    <a:ext uri="{9D8B030D-6E8A-4147-A177-3AD203B41FA5}">
                      <a16:colId xmlns:a16="http://schemas.microsoft.com/office/drawing/2014/main" val="2935039794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1963607212"/>
                    </a:ext>
                  </a:extLst>
                </a:gridCol>
                <a:gridCol w="1614805">
                  <a:extLst>
                    <a:ext uri="{9D8B030D-6E8A-4147-A177-3AD203B41FA5}">
                      <a16:colId xmlns:a16="http://schemas.microsoft.com/office/drawing/2014/main" val="3933627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>
                          <a:effectLst/>
                        </a:rPr>
                        <a:t>Poste de dépense / recette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>
                          <a:effectLst/>
                        </a:rPr>
                        <a:t>Description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>
                          <a:effectLst/>
                        </a:rPr>
                        <a:t>Montant prévisionnel (€)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8754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Validation du projet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Il faut un jour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65.8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84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Lancement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Le lancement nécessite un jour pour ajuster les outils nécessaires au projet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65.8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0073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Déroulement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 durée est estimée à 76 jours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5000.8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3035330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18BFC166-0B28-078E-0D99-FDA6D7AEDF57}"/>
              </a:ext>
            </a:extLst>
          </p:cNvPr>
          <p:cNvSpPr txBox="1"/>
          <p:nvPr/>
        </p:nvSpPr>
        <p:spPr>
          <a:xfrm>
            <a:off x="8816995" y="4808170"/>
            <a:ext cx="2734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Un budget de 5132,4 euros</a:t>
            </a:r>
          </a:p>
          <a:p>
            <a:r>
              <a:rPr lang="fr-FR" dirty="0"/>
              <a:t>est donc prévu</a:t>
            </a:r>
          </a:p>
        </p:txBody>
      </p:sp>
    </p:spTree>
    <p:extLst>
      <p:ext uri="{BB962C8B-B14F-4D97-AF65-F5344CB8AC3E}">
        <p14:creationId xmlns:p14="http://schemas.microsoft.com/office/powerpoint/2010/main" val="153621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4D14C-B7E0-5F52-B1DD-B450323F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96EC0C-CA42-A13B-C2FB-BCB93F4F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6792E3-7112-909C-2342-08017F5E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13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9F5C1FC-6D3B-C028-9649-FED05E5253BF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4891A16-D69B-7139-C852-94F187BDEC87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DD82611-6539-3CDA-705C-CC73F78C6032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5083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14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AA3FB9-B037-67A9-EB48-5983AE70877D}"/>
              </a:ext>
            </a:extLst>
          </p:cNvPr>
          <p:cNvSpPr txBox="1"/>
          <p:nvPr/>
        </p:nvSpPr>
        <p:spPr>
          <a:xfrm>
            <a:off x="0" y="1510019"/>
            <a:ext cx="2819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Échéancier Préliminaire :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24BBA95B-9D75-D31E-7F2F-EA6C8B154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521999"/>
              </p:ext>
            </p:extLst>
          </p:nvPr>
        </p:nvGraphicFramePr>
        <p:xfrm>
          <a:off x="3387090" y="1962096"/>
          <a:ext cx="5417820" cy="8083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102466413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61416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>
                          <a:effectLst/>
                        </a:rPr>
                        <a:t>Jalon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>
                          <a:effectLst/>
                        </a:rPr>
                        <a:t>Date cible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8748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Validation du projet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09 juin 2024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4143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Lancement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10 juin 2024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8125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Fin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23 septembre 2024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2566423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702A2D7F-31C8-530A-BC79-2B8AC1B81A97}"/>
              </a:ext>
            </a:extLst>
          </p:cNvPr>
          <p:cNvSpPr txBox="1"/>
          <p:nvPr/>
        </p:nvSpPr>
        <p:spPr>
          <a:xfrm>
            <a:off x="3140179" y="2948882"/>
            <a:ext cx="573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 avoir une meilleure vision on utilise ProjectLibre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680F8EF-EACF-949C-A97B-E3F04F004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17" y="3539786"/>
            <a:ext cx="11196857" cy="109552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8AD4CF2-EDA1-8819-5360-A5515C8679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106" y="4856886"/>
            <a:ext cx="9192908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04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936E3F-0D31-DB1B-93A5-2BE49692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9FEBBF-23FE-4D15-DA6B-E96CE47C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15</a:t>
            </a:fld>
            <a:endParaRPr lang="en-GB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4B72F5-DDB9-07AE-97D0-1BEDD1EBA2AF}"/>
              </a:ext>
            </a:extLst>
          </p:cNvPr>
          <p:cNvSpPr txBox="1"/>
          <p:nvPr/>
        </p:nvSpPr>
        <p:spPr>
          <a:xfrm>
            <a:off x="0" y="1510019"/>
            <a:ext cx="2819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Échéancier Préliminaire 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4F19205-1059-2329-F4F0-F68D4E6A6E14}"/>
              </a:ext>
            </a:extLst>
          </p:cNvPr>
          <p:cNvSpPr txBox="1"/>
          <p:nvPr/>
        </p:nvSpPr>
        <p:spPr>
          <a:xfrm>
            <a:off x="1570795" y="2500975"/>
            <a:ext cx="2298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Réalisation d’un SWOT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1C2E3E51-93ED-B9F3-AC13-0A1D9427D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757563"/>
              </p:ext>
            </p:extLst>
          </p:nvPr>
        </p:nvGraphicFramePr>
        <p:xfrm>
          <a:off x="2496683" y="3461153"/>
          <a:ext cx="5963285" cy="17108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6915">
                  <a:extLst>
                    <a:ext uri="{9D8B030D-6E8A-4147-A177-3AD203B41FA5}">
                      <a16:colId xmlns:a16="http://schemas.microsoft.com/office/drawing/2014/main" val="577973932"/>
                    </a:ext>
                  </a:extLst>
                </a:gridCol>
                <a:gridCol w="1988185">
                  <a:extLst>
                    <a:ext uri="{9D8B030D-6E8A-4147-A177-3AD203B41FA5}">
                      <a16:colId xmlns:a16="http://schemas.microsoft.com/office/drawing/2014/main" val="2646019340"/>
                    </a:ext>
                  </a:extLst>
                </a:gridCol>
                <a:gridCol w="1988185">
                  <a:extLst>
                    <a:ext uri="{9D8B030D-6E8A-4147-A177-3AD203B41FA5}">
                      <a16:colId xmlns:a16="http://schemas.microsoft.com/office/drawing/2014/main" val="2763247697"/>
                    </a:ext>
                  </a:extLst>
                </a:gridCol>
              </a:tblGrid>
              <a:tr h="38850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000">
                          <a:effectLst/>
                        </a:rPr>
                        <a:t>Atout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000">
                          <a:effectLst/>
                        </a:rPr>
                        <a:t>Handicap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5417313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000">
                          <a:effectLst/>
                        </a:rPr>
                        <a:t>Interne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Motivation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RQTH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Expérience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Difficultés sociales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Délai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369639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000">
                          <a:effectLst/>
                        </a:rPr>
                        <a:t>Externe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Mobilité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Aide possible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Marché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Concurrence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219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116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A0A40-76C6-AD83-329D-6D156878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54B8266-D6E6-06F0-D7A7-CE517F21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F572DA-F103-566B-9221-E35C068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16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39FEEEA-5769-00B2-525B-D635B1BD9FC5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69E64F6-7C99-23F0-30F5-0510A7878ED7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>
                <a:solidFill>
                  <a:schemeClr val="accent2"/>
                </a:solidFill>
              </a:rPr>
              <a:t>Difficultés et Ajustements</a:t>
            </a:r>
            <a:endParaRPr lang="fr-FR" i="1" dirty="0">
              <a:solidFill>
                <a:schemeClr val="accent2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DDBA1F3-B95F-E4AC-BB38-C0C3E0A3F826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6731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17</a:t>
            </a:fld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AA3FB9-B037-67A9-EB48-5983AE70877D}"/>
              </a:ext>
            </a:extLst>
          </p:cNvPr>
          <p:cNvSpPr txBox="1"/>
          <p:nvPr/>
        </p:nvSpPr>
        <p:spPr>
          <a:xfrm>
            <a:off x="-1" y="1510019"/>
            <a:ext cx="3717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Difficultés et Ajustements :</a:t>
            </a:r>
            <a:endParaRPr lang="fr-FR" sz="2000" b="1" i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4879E27-C390-F379-ADFA-CEFB2AE7B47A}"/>
              </a:ext>
            </a:extLst>
          </p:cNvPr>
          <p:cNvSpPr txBox="1"/>
          <p:nvPr/>
        </p:nvSpPr>
        <p:spPr>
          <a:xfrm>
            <a:off x="513030" y="2254313"/>
            <a:ext cx="45293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Difficultés rencontrées. Prolongation du projet</a:t>
            </a:r>
          </a:p>
          <a:p>
            <a:endParaRPr lang="fr-FR" dirty="0"/>
          </a:p>
          <a:p>
            <a:r>
              <a:rPr lang="fr-FR" dirty="0"/>
              <a:t>Nouvelle date de fin au 15 septembre 2025</a:t>
            </a:r>
          </a:p>
          <a:p>
            <a:endParaRPr lang="fr-FR" dirty="0"/>
          </a:p>
          <a:p>
            <a:r>
              <a:rPr lang="fr-FR" dirty="0"/>
              <a:t>Budget réajusté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BB1D4DE4-F8D9-4FD1-A2D3-D397DECB7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41268"/>
              </p:ext>
            </p:extLst>
          </p:nvPr>
        </p:nvGraphicFramePr>
        <p:xfrm>
          <a:off x="5474314" y="2254313"/>
          <a:ext cx="5554980" cy="24156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8490">
                  <a:extLst>
                    <a:ext uri="{9D8B030D-6E8A-4147-A177-3AD203B41FA5}">
                      <a16:colId xmlns:a16="http://schemas.microsoft.com/office/drawing/2014/main" val="29601323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3250457064"/>
                    </a:ext>
                  </a:extLst>
                </a:gridCol>
                <a:gridCol w="1614805">
                  <a:extLst>
                    <a:ext uri="{9D8B030D-6E8A-4147-A177-3AD203B41FA5}">
                      <a16:colId xmlns:a16="http://schemas.microsoft.com/office/drawing/2014/main" val="40890944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>
                          <a:effectLst/>
                        </a:rPr>
                        <a:t>Poste de dépense / recette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Description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>
                          <a:effectLst/>
                        </a:rPr>
                        <a:t>Montant prévisionnel (€)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99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Validation du projet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Il faut un jour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65.8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743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Lancement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Le lancement nécessite un jour pour ajuster les outils nécessaires au projet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65.8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0148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Déroulement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 nouvelle durée est estimée à 329 jours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21648.2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4639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Financement de formation Wall Street English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 formation dure 6 mois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2400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615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Financement de la formation de License Informatique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 formation se finit le 22/08/2025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2750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2914750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DED1BDA-4A0A-45F1-A619-3C3A4B9FDFB2}"/>
              </a:ext>
            </a:extLst>
          </p:cNvPr>
          <p:cNvSpPr txBox="1"/>
          <p:nvPr/>
        </p:nvSpPr>
        <p:spPr>
          <a:xfrm>
            <a:off x="5814683" y="4859330"/>
            <a:ext cx="4677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Nouveau budget prévisionnel de 26 929,8 euros</a:t>
            </a:r>
          </a:p>
        </p:txBody>
      </p:sp>
    </p:spTree>
    <p:extLst>
      <p:ext uri="{BB962C8B-B14F-4D97-AF65-F5344CB8AC3E}">
        <p14:creationId xmlns:p14="http://schemas.microsoft.com/office/powerpoint/2010/main" val="2024705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0E6DD68-69B5-B86D-1D2F-6F71A96C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9AD187-2E71-FAA6-0847-402E1EC1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18</a:t>
            </a:fld>
            <a:endParaRPr lang="en-GB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A74F06B-9548-1B7F-44A3-3CB494D5654E}"/>
              </a:ext>
            </a:extLst>
          </p:cNvPr>
          <p:cNvSpPr txBox="1"/>
          <p:nvPr/>
        </p:nvSpPr>
        <p:spPr>
          <a:xfrm>
            <a:off x="-1" y="1510019"/>
            <a:ext cx="3717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Difficultés et Ajustements :</a:t>
            </a:r>
            <a:endParaRPr lang="fr-FR" sz="2000" b="1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68A5E9C-428A-093B-897D-A4737095A6D2}"/>
              </a:ext>
            </a:extLst>
          </p:cNvPr>
          <p:cNvSpPr txBox="1"/>
          <p:nvPr/>
        </p:nvSpPr>
        <p:spPr>
          <a:xfrm>
            <a:off x="1077902" y="2125525"/>
            <a:ext cx="198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Nouvel échéancier 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2C3F1B37-57B0-442B-B3F5-F12EAC9D0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93395"/>
              </p:ext>
            </p:extLst>
          </p:nvPr>
        </p:nvGraphicFramePr>
        <p:xfrm>
          <a:off x="3417549" y="2040747"/>
          <a:ext cx="8130536" cy="37598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5268">
                  <a:extLst>
                    <a:ext uri="{9D8B030D-6E8A-4147-A177-3AD203B41FA5}">
                      <a16:colId xmlns:a16="http://schemas.microsoft.com/office/drawing/2014/main" val="1667704045"/>
                    </a:ext>
                  </a:extLst>
                </a:gridCol>
                <a:gridCol w="4065268">
                  <a:extLst>
                    <a:ext uri="{9D8B030D-6E8A-4147-A177-3AD203B41FA5}">
                      <a16:colId xmlns:a16="http://schemas.microsoft.com/office/drawing/2014/main" val="1223327899"/>
                    </a:ext>
                  </a:extLst>
                </a:gridCol>
              </a:tblGrid>
              <a:tr h="7450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Jalons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Date Cible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8113575"/>
                  </a:ext>
                </a:extLst>
              </a:tr>
              <a:tr h="7794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Validation du projet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09 juin 2024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5522345"/>
                  </a:ext>
                </a:extLst>
              </a:tr>
              <a:tr h="7450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Lancement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10 juin 2024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1831941"/>
                  </a:ext>
                </a:extLst>
              </a:tr>
              <a:tr h="7450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Fin (non atteint)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23 septembre 2024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5579981"/>
                  </a:ext>
                </a:extLst>
              </a:tr>
              <a:tr h="7450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Nouvelle fin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15 septembre 2025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3007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441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A6B3FC-0695-86A9-815A-11E02D5F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D370EC9-C166-72E5-2D7D-23B3C65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19</a:t>
            </a:fld>
            <a:endParaRPr lang="en-GB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61597CD-B00D-D83F-29BD-71DFE3F89DFC}"/>
              </a:ext>
            </a:extLst>
          </p:cNvPr>
          <p:cNvSpPr txBox="1"/>
          <p:nvPr/>
        </p:nvSpPr>
        <p:spPr>
          <a:xfrm>
            <a:off x="-1" y="1510019"/>
            <a:ext cx="3717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Difficultés et Ajustements :</a:t>
            </a:r>
            <a:endParaRPr lang="fr-FR" sz="2000" b="1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01B09C3-7695-5F53-608E-094E5570974F}"/>
              </a:ext>
            </a:extLst>
          </p:cNvPr>
          <p:cNvSpPr txBox="1"/>
          <p:nvPr/>
        </p:nvSpPr>
        <p:spPr>
          <a:xfrm>
            <a:off x="478395" y="2143692"/>
            <a:ext cx="3372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Nouveau planning sur </a:t>
            </a:r>
            <a:r>
              <a:rPr lang="fr-FR" dirty="0" err="1"/>
              <a:t>Projectlibre</a:t>
            </a:r>
            <a:endParaRPr lang="fr-FR" dirty="0"/>
          </a:p>
        </p:txBody>
      </p:sp>
      <p:pic>
        <p:nvPicPr>
          <p:cNvPr id="3" name="Image 2" descr="Une image contenant texte, ligne, nombre, Police&#10;&#10;Le contenu généré par l’IA peut être incorrect.">
            <a:extLst>
              <a:ext uri="{FF2B5EF4-FFF2-40B4-BE49-F238E27FC236}">
                <a16:creationId xmlns:a16="http://schemas.microsoft.com/office/drawing/2014/main" id="{4CB2973E-0362-10D5-DA4D-175697518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2909268"/>
            <a:ext cx="11353800" cy="250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72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FF2D66-881A-8850-ACCE-82C46BADC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1A4EFC-6E6B-0A0C-A901-696BEAB7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20</a:t>
            </a:fld>
            <a:endParaRPr lang="en-GB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355E8D6-8704-3BBE-4AA1-EB67E2DFE8EC}"/>
              </a:ext>
            </a:extLst>
          </p:cNvPr>
          <p:cNvSpPr txBox="1"/>
          <p:nvPr/>
        </p:nvSpPr>
        <p:spPr>
          <a:xfrm>
            <a:off x="-1" y="1510019"/>
            <a:ext cx="3717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Difficultés et Ajustements :</a:t>
            </a:r>
            <a:endParaRPr lang="fr-FR" sz="2000" b="1" i="1" dirty="0"/>
          </a:p>
        </p:txBody>
      </p:sp>
      <p:pic>
        <p:nvPicPr>
          <p:cNvPr id="8" name="Image 7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33C0850B-2109-9C30-50EE-3D2759EF4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90" y="1910129"/>
            <a:ext cx="9856228" cy="44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25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85A980-D5D6-B2B6-5633-BF66FA44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05ED98-F49E-5880-3F69-9DE8A2B7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21</a:t>
            </a:fld>
            <a:endParaRPr lang="en-GB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B6188E9-D0AA-7241-53B6-B7E6C808B2AD}"/>
              </a:ext>
            </a:extLst>
          </p:cNvPr>
          <p:cNvSpPr txBox="1"/>
          <p:nvPr/>
        </p:nvSpPr>
        <p:spPr>
          <a:xfrm>
            <a:off x="-1" y="1510019"/>
            <a:ext cx="3717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Difficultés et Ajustements :</a:t>
            </a:r>
            <a:endParaRPr lang="fr-FR" sz="2000" b="1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819312-CC51-031D-9173-CA6341B94768}"/>
              </a:ext>
            </a:extLst>
          </p:cNvPr>
          <p:cNvSpPr txBox="1"/>
          <p:nvPr/>
        </p:nvSpPr>
        <p:spPr>
          <a:xfrm>
            <a:off x="339115" y="1910129"/>
            <a:ext cx="1784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Nouvelles étapes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FBD3A7EC-F4D0-D633-D143-F3171A994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520900"/>
              </p:ext>
            </p:extLst>
          </p:nvPr>
        </p:nvGraphicFramePr>
        <p:xfrm>
          <a:off x="3875237" y="1817136"/>
          <a:ext cx="6213441" cy="43577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35108">
                  <a:extLst>
                    <a:ext uri="{9D8B030D-6E8A-4147-A177-3AD203B41FA5}">
                      <a16:colId xmlns:a16="http://schemas.microsoft.com/office/drawing/2014/main" val="3976259960"/>
                    </a:ext>
                  </a:extLst>
                </a:gridCol>
                <a:gridCol w="1278333">
                  <a:extLst>
                    <a:ext uri="{9D8B030D-6E8A-4147-A177-3AD203B41FA5}">
                      <a16:colId xmlns:a16="http://schemas.microsoft.com/office/drawing/2014/main" val="1188831533"/>
                    </a:ext>
                  </a:extLst>
                </a:gridCol>
              </a:tblGrid>
              <a:tr h="1961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Etape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Durée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3530513769"/>
                  </a:ext>
                </a:extLst>
              </a:tr>
              <a:tr h="270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Recherche sur les sites d’annonce d’alternance et d’offre d’emploi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Du début jusqu’à la fin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1852859762"/>
                  </a:ext>
                </a:extLst>
              </a:tr>
              <a:tr h="270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Envoie de mail aux offres intéressantes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Du début jusqu’à la fin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1403965215"/>
                  </a:ext>
                </a:extLst>
              </a:tr>
              <a:tr h="2644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Contacte par un cabinet de recrutement ATKISEA via l’AGEFIPH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13 décembre 2024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1154261353"/>
                  </a:ext>
                </a:extLst>
              </a:tr>
              <a:tr h="270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Entretien vidéo avec ATKISEA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1heure (16 décembre 2024)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3368854959"/>
                  </a:ext>
                </a:extLst>
              </a:tr>
              <a:tr h="270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Mise en relation avec l’entreprise AMADEUS et entretien vidéo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1heure (18 décembre 2024)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4274671338"/>
                  </a:ext>
                </a:extLst>
              </a:tr>
              <a:tr h="1356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Retour de l’entretien via mail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20 décembre 2024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1642806731"/>
                  </a:ext>
                </a:extLst>
              </a:tr>
              <a:tr h="53663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Mise en place de solution après les différents retours. Prise d’une formation de 6 mois auprès de Wall Street English pour améliorer ma prosodie en anglais.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Début février 2025 à juillet 2025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786483109"/>
                  </a:ext>
                </a:extLst>
              </a:tr>
              <a:tr h="270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Rendez-vous téléphonique avec Guichet Caroline (Dirigeante d’un cabinet de recrutement, et ami de famille de longue date) pour un pot sur LinkedIn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1h30 (début mai 2025)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1172255573"/>
                  </a:ext>
                </a:extLst>
              </a:tr>
              <a:tr h="270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Mise en ligne du Post sur LinkedIn (https://www.linkedin.com/feed/update/urn:li:activity:7333437175037870080/)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Mi-mai 2025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397006744"/>
                  </a:ext>
                </a:extLst>
              </a:tr>
              <a:tr h="270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Contact par mail en rapport avec le poste sur LinkedIn 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Début mi-mai 2025 jusqu’à aujourd’hui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2913374185"/>
                  </a:ext>
                </a:extLst>
              </a:tr>
              <a:tr h="2644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Entretien visioconférence avec Travel Planet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30 mai 2025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145702970"/>
                  </a:ext>
                </a:extLst>
              </a:tr>
              <a:tr h="270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Demande d’interview par Mail auprès des 3 personnes en charges de la recherche d’alternance du groupe AMIO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Juin 2025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3144490982"/>
                  </a:ext>
                </a:extLst>
              </a:tr>
              <a:tr h="2644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Entretien vidéo avec Monaco Digital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6 juin 2025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139414320"/>
                  </a:ext>
                </a:extLst>
              </a:tr>
              <a:tr h="2644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Obtention d’un contrat pour l’année 2025/2026 auprès de Travel Planet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9 juin 2025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575784497"/>
                  </a:ext>
                </a:extLst>
              </a:tr>
              <a:tr h="2644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>
                          <a:effectLst/>
                        </a:rPr>
                        <a:t>Reprise de contact avec ATKISEA et AMADEUS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800" dirty="0">
                          <a:effectLst/>
                        </a:rPr>
                        <a:t>10 juin 2025</a:t>
                      </a:r>
                      <a:endParaRPr lang="fr-FR" sz="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9493" marR="49493" marT="0" marB="0"/>
                </a:tc>
                <a:extLst>
                  <a:ext uri="{0D108BD9-81ED-4DB2-BD59-A6C34878D82A}">
                    <a16:rowId xmlns:a16="http://schemas.microsoft.com/office/drawing/2014/main" val="2128431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300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F9D23-89D4-1149-0C59-DFE5AED8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EE0D75-6234-D4E1-4C8C-BD6DF560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B33A23-AE00-B455-4CA2-9CC83B7B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22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C00AF9-1746-C0F7-3F9D-15E9461BC61D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50D858-EE89-4AFD-0F1C-DBC2E8E3E774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88560-F346-F2AE-DDE4-4C7314320C2E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5318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23</a:t>
            </a:fld>
            <a:endParaRPr lang="en-GB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B9BA398-5CA7-5C01-9A35-09F6EA421B6D}"/>
              </a:ext>
            </a:extLst>
          </p:cNvPr>
          <p:cNvSpPr txBox="1"/>
          <p:nvPr/>
        </p:nvSpPr>
        <p:spPr>
          <a:xfrm>
            <a:off x="660903" y="2392124"/>
            <a:ext cx="3650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Etape effectué tout au long du projet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B369E72-43C2-94A5-E43E-97C03954F6A1}"/>
              </a:ext>
            </a:extLst>
          </p:cNvPr>
          <p:cNvSpPr txBox="1"/>
          <p:nvPr/>
        </p:nvSpPr>
        <p:spPr>
          <a:xfrm>
            <a:off x="660903" y="3391200"/>
            <a:ext cx="4379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Offre fournit par 2ISA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C42A253-8FE2-D65A-71A5-41CFE3BD88AE}"/>
              </a:ext>
            </a:extLst>
          </p:cNvPr>
          <p:cNvSpPr txBox="1"/>
          <p:nvPr/>
        </p:nvSpPr>
        <p:spPr>
          <a:xfrm>
            <a:off x="660903" y="4978649"/>
            <a:ext cx="437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Utilisation de l’AGEFIPH, Indeed, </a:t>
            </a:r>
            <a:r>
              <a:rPr lang="fr-FR" dirty="0" err="1"/>
              <a:t>CapEmploi</a:t>
            </a:r>
            <a:r>
              <a:rPr lang="fr-FR" dirty="0"/>
              <a:t> et autre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EC797A4-EF7E-82E8-EA1E-00DE330A7E38}"/>
              </a:ext>
            </a:extLst>
          </p:cNvPr>
          <p:cNvSpPr txBox="1"/>
          <p:nvPr/>
        </p:nvSpPr>
        <p:spPr>
          <a:xfrm>
            <a:off x="0" y="1510019"/>
            <a:ext cx="726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Recherche sur les sites d’annonce d’alternance et d’offre d’emploi :</a:t>
            </a:r>
          </a:p>
        </p:txBody>
      </p:sp>
      <p:pic>
        <p:nvPicPr>
          <p:cNvPr id="3" name="Image 2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817FEEE1-8043-2F6C-69D2-B74FAF40B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657" y="1962056"/>
            <a:ext cx="3589331" cy="1798476"/>
          </a:xfrm>
          <a:prstGeom prst="rect">
            <a:avLst/>
          </a:prstGeom>
        </p:spPr>
      </p:pic>
      <p:pic>
        <p:nvPicPr>
          <p:cNvPr id="8" name="Image 7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DAB710EF-6046-8215-FCD7-7D0797D2B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436" y="3977779"/>
            <a:ext cx="3792992" cy="2133558"/>
          </a:xfrm>
          <a:prstGeom prst="rect">
            <a:avLst/>
          </a:prstGeom>
        </p:spPr>
      </p:pic>
      <p:pic>
        <p:nvPicPr>
          <p:cNvPr id="10" name="Image 9" descr="Une image contenant Police, logo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5C1EC03D-3A0F-E86A-E2AE-2720325AB8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003" y="2370829"/>
            <a:ext cx="3061203" cy="160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47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1820-1DCD-EEAB-D109-93EF3B65C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C64031-E507-F90A-C17E-6CF8A3C3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696E71-AB08-827C-2B00-C72F54B1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24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C9AB0C3-D56D-F593-40D3-0603BD772297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E7E4521-5F45-0E7B-B3D7-581941454709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F1B67A7-2BC1-AC0C-7927-D0A13995775D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9276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25</a:t>
            </a:fld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E27873F-3663-8EF2-3DCA-5A7E8EF3F380}"/>
              </a:ext>
            </a:extLst>
          </p:cNvPr>
          <p:cNvSpPr txBox="1"/>
          <p:nvPr/>
        </p:nvSpPr>
        <p:spPr>
          <a:xfrm>
            <a:off x="0" y="1510019"/>
            <a:ext cx="6941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Contacte par un cabinet de recrutement ATKISEA via l’AGEFIPH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0A4A252-AAE6-3B41-8760-26973EE1E5B1}"/>
              </a:ext>
            </a:extLst>
          </p:cNvPr>
          <p:cNvSpPr txBox="1"/>
          <p:nvPr/>
        </p:nvSpPr>
        <p:spPr>
          <a:xfrm>
            <a:off x="641897" y="2434363"/>
            <a:ext cx="6329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14 décembre 2024 contact du cabinet de recrutement ATKISEA</a:t>
            </a:r>
          </a:p>
        </p:txBody>
      </p:sp>
      <p:pic>
        <p:nvPicPr>
          <p:cNvPr id="8" name="Image 7" descr="Une image contenant Police, conception, typographie&#10;&#10;Le contenu généré par l’IA peut être incorrect.">
            <a:extLst>
              <a:ext uri="{FF2B5EF4-FFF2-40B4-BE49-F238E27FC236}">
                <a16:creationId xmlns:a16="http://schemas.microsoft.com/office/drawing/2014/main" id="{F8DFF365-5C51-6409-2510-FC62D6817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333" y="3448681"/>
            <a:ext cx="3333750" cy="1371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1134779-73CD-FEB8-CAEE-3B326274734A}"/>
              </a:ext>
            </a:extLst>
          </p:cNvPr>
          <p:cNvSpPr txBox="1"/>
          <p:nvPr/>
        </p:nvSpPr>
        <p:spPr>
          <a:xfrm>
            <a:off x="641897" y="3261532"/>
            <a:ext cx="3442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Profil vu sur le forum de l’AGEFIPH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F082D9D-8C3A-5F84-A496-E8E6B60619D9}"/>
              </a:ext>
            </a:extLst>
          </p:cNvPr>
          <p:cNvSpPr txBox="1"/>
          <p:nvPr/>
        </p:nvSpPr>
        <p:spPr>
          <a:xfrm>
            <a:off x="641897" y="4088701"/>
            <a:ext cx="558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Possibilité de prendre contact avec l’entreprise partenaire</a:t>
            </a:r>
          </a:p>
        </p:txBody>
      </p:sp>
    </p:spTree>
    <p:extLst>
      <p:ext uri="{BB962C8B-B14F-4D97-AF65-F5344CB8AC3E}">
        <p14:creationId xmlns:p14="http://schemas.microsoft.com/office/powerpoint/2010/main" val="1078918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F4364-BB5B-B9EE-8237-1158A29CD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F3E582-FA39-EA99-C941-041F2DC1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5FC55D-2CAD-AF7A-4ACF-929BC9488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26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D22BBDC-1103-3CFE-F7E8-CC5C3FDFCCB0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71769F4-DE55-BADE-58D8-1C469C0132ED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723B8AA-CD8E-D353-BAF5-8E00E3C98334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14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27</a:t>
            </a:fld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8F93CD-68A0-3717-5340-342387B80849}"/>
              </a:ext>
            </a:extLst>
          </p:cNvPr>
          <p:cNvSpPr txBox="1"/>
          <p:nvPr/>
        </p:nvSpPr>
        <p:spPr>
          <a:xfrm>
            <a:off x="0" y="1510019"/>
            <a:ext cx="8154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Entretien vidéo avec AMADEUS retour par mail et solution mise en Œuvre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6D49BB7-7ECA-C326-0E32-111833640191}"/>
              </a:ext>
            </a:extLst>
          </p:cNvPr>
          <p:cNvSpPr txBox="1"/>
          <p:nvPr/>
        </p:nvSpPr>
        <p:spPr>
          <a:xfrm>
            <a:off x="569229" y="2452530"/>
            <a:ext cx="65235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Entretien avec ATKISEA positif donc mise en contact avec AMADEUS</a:t>
            </a:r>
          </a:p>
          <a:p>
            <a:endParaRPr lang="fr-FR" dirty="0"/>
          </a:p>
          <a:p>
            <a:r>
              <a:rPr lang="fr-FR" dirty="0"/>
              <a:t>Entretien vidéo avec AMADEUS le 18/12/2024</a:t>
            </a:r>
          </a:p>
          <a:p>
            <a:endParaRPr lang="fr-FR" dirty="0"/>
          </a:p>
          <a:p>
            <a:r>
              <a:rPr lang="fr-FR" dirty="0"/>
              <a:t>Retour par mail le 20/12/2024</a:t>
            </a:r>
          </a:p>
          <a:p>
            <a:endParaRPr lang="fr-FR" dirty="0"/>
          </a:p>
          <a:p>
            <a:r>
              <a:rPr lang="fr-FR" dirty="0"/>
              <a:t>Anglais oral jugé trop juste</a:t>
            </a:r>
          </a:p>
        </p:txBody>
      </p:sp>
    </p:spTree>
    <p:extLst>
      <p:ext uri="{BB962C8B-B14F-4D97-AF65-F5344CB8AC3E}">
        <p14:creationId xmlns:p14="http://schemas.microsoft.com/office/powerpoint/2010/main" val="1315379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A7FC1-C1F2-307B-893D-C17E1BDE5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6F0566-FBF2-0D48-19E1-657D66F8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A5BD38-5099-A0B9-DAA1-5856E75E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28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BFFE77-FC2F-E5EC-BEF8-734B7AFA1A85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46DCC41-3393-6C17-7CF8-724CD9623CE4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D493493-E910-464C-2075-6A8A5C131276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2488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29</a:t>
            </a:fld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8F93CD-68A0-3717-5340-342387B80849}"/>
              </a:ext>
            </a:extLst>
          </p:cNvPr>
          <p:cNvSpPr txBox="1"/>
          <p:nvPr/>
        </p:nvSpPr>
        <p:spPr>
          <a:xfrm>
            <a:off x="0" y="1510019"/>
            <a:ext cx="8935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Entretien téléphonique avec Guichet Caroline et mise en place d’un post LinkedIn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98FD8DF-2C30-4E8C-DF25-8E17D931783E}"/>
              </a:ext>
            </a:extLst>
          </p:cNvPr>
          <p:cNvSpPr txBox="1"/>
          <p:nvPr/>
        </p:nvSpPr>
        <p:spPr>
          <a:xfrm>
            <a:off x="708509" y="2391974"/>
            <a:ext cx="58688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Amie de famille de longue date proposant son aide </a:t>
            </a:r>
          </a:p>
          <a:p>
            <a:endParaRPr lang="fr-FR" dirty="0"/>
          </a:p>
          <a:p>
            <a:r>
              <a:rPr lang="fr-FR" dirty="0"/>
              <a:t>Un appel téléphonique le 05/2025 à été fait</a:t>
            </a:r>
          </a:p>
          <a:p>
            <a:endParaRPr lang="fr-FR" dirty="0"/>
          </a:p>
          <a:p>
            <a:r>
              <a:rPr lang="fr-FR" dirty="0"/>
              <a:t>L’aide est apporté gratuitement (aucun frais supplémentaire)</a:t>
            </a:r>
          </a:p>
          <a:p>
            <a:endParaRPr lang="fr-FR" dirty="0"/>
          </a:p>
          <a:p>
            <a:r>
              <a:rPr lang="fr-FR" dirty="0"/>
              <a:t>Décision de refaire le CV et la lettre de motivation</a:t>
            </a:r>
          </a:p>
        </p:txBody>
      </p:sp>
    </p:spTree>
    <p:extLst>
      <p:ext uri="{BB962C8B-B14F-4D97-AF65-F5344CB8AC3E}">
        <p14:creationId xmlns:p14="http://schemas.microsoft.com/office/powerpoint/2010/main" val="87068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D6780-9A24-2716-9E91-89569C33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AB660E-88F8-5E45-7B4C-6ECC9EA78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748D5D-C4C5-75A7-1583-82EAB193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30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83E2986-08BA-C8E8-6A28-506999664266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EEC013-A28B-0C5D-640C-2649D719CA3F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38E3987-F7BE-05C0-4EE0-D5B211EAEFBA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70900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31</a:t>
            </a:fld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D42398A-DAF5-5396-9068-7A4096B4E78B}"/>
              </a:ext>
            </a:extLst>
          </p:cNvPr>
          <p:cNvSpPr txBox="1"/>
          <p:nvPr/>
        </p:nvSpPr>
        <p:spPr>
          <a:xfrm>
            <a:off x="0" y="1510019"/>
            <a:ext cx="66175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Contact téléphonique ou mails en réponse au post LinkedIn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7B573E-2218-FFED-EE16-5E1F2584942A}"/>
              </a:ext>
            </a:extLst>
          </p:cNvPr>
          <p:cNvSpPr txBox="1"/>
          <p:nvPr/>
        </p:nvSpPr>
        <p:spPr>
          <a:xfrm>
            <a:off x="623113" y="2167916"/>
            <a:ext cx="75793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Fort engouement du post LinkedIn</a:t>
            </a:r>
          </a:p>
          <a:p>
            <a:endParaRPr lang="fr-FR" dirty="0"/>
          </a:p>
          <a:p>
            <a:r>
              <a:rPr lang="fr-FR" dirty="0"/>
              <a:t>Réseau de Torrenti Sylvain grandement augmenté (12 relations à 102 relations)</a:t>
            </a:r>
          </a:p>
          <a:p>
            <a:endParaRPr lang="fr-FR" dirty="0"/>
          </a:p>
          <a:p>
            <a:r>
              <a:rPr lang="fr-FR" dirty="0"/>
              <a:t>Plus de 600 réponses de soutien</a:t>
            </a:r>
          </a:p>
          <a:p>
            <a:endParaRPr lang="fr-FR" dirty="0"/>
          </a:p>
          <a:p>
            <a:r>
              <a:rPr lang="fr-FR" dirty="0"/>
              <a:t>Contact n’ayant pas aboutis sont gardés pour de futures opportunités </a:t>
            </a:r>
          </a:p>
        </p:txBody>
      </p:sp>
    </p:spTree>
    <p:extLst>
      <p:ext uri="{BB962C8B-B14F-4D97-AF65-F5344CB8AC3E}">
        <p14:creationId xmlns:p14="http://schemas.microsoft.com/office/powerpoint/2010/main" val="37202522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B48A-01A8-1981-2AD1-A656DEF86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D38A44-B017-DC8F-0356-AF79C0C81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0FC1B8-DD28-6F7D-D53E-0605924D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32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49900D1-75E4-E5BB-5F0C-DC052B1AA48F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9D03554-474D-AE45-9C5B-6AD56AFB6D76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63ED2F0-6F2A-1663-2CE8-096888422909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Contact de Travel Planet et offre de contrat</a:t>
            </a:r>
          </a:p>
          <a:p>
            <a:endParaRPr lang="fr-FR" dirty="0"/>
          </a:p>
          <a:p>
            <a:r>
              <a:rPr lang="fr-FR" dirty="0"/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3111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33</a:t>
            </a:fld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7DCC04-5C74-9D1A-D9EE-7F92F4A4E476}"/>
              </a:ext>
            </a:extLst>
          </p:cNvPr>
          <p:cNvSpPr txBox="1"/>
          <p:nvPr/>
        </p:nvSpPr>
        <p:spPr>
          <a:xfrm>
            <a:off x="0" y="1510019"/>
            <a:ext cx="48850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Contact de Travel Planet et offre de contrat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BB21FFE-94B1-80D3-2894-091E78330ED5}"/>
              </a:ext>
            </a:extLst>
          </p:cNvPr>
          <p:cNvSpPr txBox="1"/>
          <p:nvPr/>
        </p:nvSpPr>
        <p:spPr>
          <a:xfrm>
            <a:off x="314893" y="2173970"/>
            <a:ext cx="630884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Contact et visioconférence programmée le 30/05/2025</a:t>
            </a:r>
          </a:p>
          <a:p>
            <a:endParaRPr lang="fr-FR" dirty="0"/>
          </a:p>
          <a:p>
            <a:r>
              <a:rPr lang="fr-FR" dirty="0"/>
              <a:t>Visioconférence faites avec le co-président de Travel Planet</a:t>
            </a:r>
          </a:p>
          <a:p>
            <a:endParaRPr lang="fr-FR" dirty="0"/>
          </a:p>
          <a:p>
            <a:r>
              <a:rPr lang="fr-FR" dirty="0"/>
              <a:t>Offre de contrat faite à Torrenti Sylvain</a:t>
            </a:r>
          </a:p>
          <a:p>
            <a:endParaRPr lang="fr-FR" dirty="0"/>
          </a:p>
          <a:p>
            <a:r>
              <a:rPr lang="fr-FR" dirty="0"/>
              <a:t>Offre accepter par Torrenti Sylvain le 07/06/2025 après réflexions</a:t>
            </a:r>
          </a:p>
        </p:txBody>
      </p:sp>
    </p:spTree>
    <p:extLst>
      <p:ext uri="{BB962C8B-B14F-4D97-AF65-F5344CB8AC3E}">
        <p14:creationId xmlns:p14="http://schemas.microsoft.com/office/powerpoint/2010/main" val="19924205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C2E91-4E08-3B2B-353E-F21E82B4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1A5ED9-B530-BD2D-E43F-AC23A754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0C9EA7-BF82-778D-45DF-52E139C17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34</a:t>
            </a:fld>
            <a:endParaRPr lang="en-GB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90B309F-2B85-8B2E-0B47-4DB6F546B8E1}"/>
              </a:ext>
            </a:extLst>
          </p:cNvPr>
          <p:cNvSpPr txBox="1"/>
          <p:nvPr/>
        </p:nvSpPr>
        <p:spPr>
          <a:xfrm>
            <a:off x="0" y="1510019"/>
            <a:ext cx="24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Sommaire du projet :</a:t>
            </a:r>
            <a:endParaRPr lang="en-GB" sz="20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E039243-62AE-E45D-BAFE-0FC12FE7CA0C}"/>
              </a:ext>
            </a:extLst>
          </p:cNvPr>
          <p:cNvSpPr txBox="1"/>
          <p:nvPr/>
        </p:nvSpPr>
        <p:spPr>
          <a:xfrm>
            <a:off x="1094711" y="1910129"/>
            <a:ext cx="25936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Informations générales</a:t>
            </a:r>
          </a:p>
          <a:p>
            <a:endParaRPr lang="fr-FR" dirty="0">
              <a:solidFill>
                <a:schemeClr val="accent2"/>
              </a:solidFill>
            </a:endParaRPr>
          </a:p>
          <a:p>
            <a:r>
              <a:rPr lang="fr-FR" dirty="0"/>
              <a:t>Contexte et justification</a:t>
            </a:r>
          </a:p>
          <a:p>
            <a:endParaRPr lang="fr-FR" dirty="0"/>
          </a:p>
          <a:p>
            <a:r>
              <a:rPr lang="fr-FR" dirty="0"/>
              <a:t>Objectif du projet</a:t>
            </a:r>
          </a:p>
          <a:p>
            <a:endParaRPr lang="fr-FR" dirty="0"/>
          </a:p>
          <a:p>
            <a:r>
              <a:rPr lang="fr-FR" dirty="0"/>
              <a:t>Parties prenantes</a:t>
            </a:r>
          </a:p>
          <a:p>
            <a:endParaRPr lang="fr-FR" dirty="0"/>
          </a:p>
          <a:p>
            <a:r>
              <a:rPr lang="fr-FR" dirty="0"/>
              <a:t>Budget Prévisionnel</a:t>
            </a:r>
          </a:p>
          <a:p>
            <a:endParaRPr lang="fr-FR" dirty="0"/>
          </a:p>
          <a:p>
            <a:r>
              <a:rPr lang="fr-FR" dirty="0"/>
              <a:t>Échéancier Préliminaire</a:t>
            </a:r>
          </a:p>
          <a:p>
            <a:r>
              <a:rPr lang="fr-FR" dirty="0"/>
              <a:t>	</a:t>
            </a:r>
          </a:p>
          <a:p>
            <a:r>
              <a:rPr lang="fr-FR" dirty="0"/>
              <a:t>Difficultés et Ajustements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465C2D9-445C-DCA4-57C7-12B79C5979F8}"/>
              </a:ext>
            </a:extLst>
          </p:cNvPr>
          <p:cNvSpPr txBox="1"/>
          <p:nvPr/>
        </p:nvSpPr>
        <p:spPr>
          <a:xfrm>
            <a:off x="5446531" y="1910129"/>
            <a:ext cx="63281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sur les sites d’annonce d’alternance et d’offre d’emploi</a:t>
            </a:r>
          </a:p>
          <a:p>
            <a:endParaRPr lang="fr-FR" dirty="0"/>
          </a:p>
          <a:p>
            <a:r>
              <a:rPr lang="fr-FR" dirty="0"/>
              <a:t>Contacte par un cabinet de recrutement ATKISEA via l’AGEFIPH</a:t>
            </a:r>
          </a:p>
          <a:p>
            <a:endParaRPr lang="fr-FR" dirty="0"/>
          </a:p>
          <a:p>
            <a:r>
              <a:rPr lang="fr-FR" dirty="0"/>
              <a:t>Entretien vidéo avec AMADEUS retour par mail et solution mise en Œuvre</a:t>
            </a:r>
          </a:p>
          <a:p>
            <a:endParaRPr lang="fr-FR" dirty="0"/>
          </a:p>
          <a:p>
            <a:r>
              <a:rPr lang="fr-FR" dirty="0"/>
              <a:t>Entretien téléphonique avec Guichet Caroline et mise en place d’un post LinkedIn</a:t>
            </a:r>
          </a:p>
          <a:p>
            <a:endParaRPr lang="fr-FR" dirty="0"/>
          </a:p>
          <a:p>
            <a:r>
              <a:rPr lang="fr-FR" dirty="0"/>
              <a:t>Contact téléphonique ou mails en réponse au post LinkedIn</a:t>
            </a:r>
          </a:p>
          <a:p>
            <a:endParaRPr lang="fr-FR" dirty="0"/>
          </a:p>
          <a:p>
            <a:r>
              <a:rPr lang="fr-FR" dirty="0"/>
              <a:t>Contact de Travel Planet et offre de contrat</a:t>
            </a:r>
          </a:p>
          <a:p>
            <a:endParaRPr lang="fr-FR" dirty="0"/>
          </a:p>
          <a:p>
            <a:r>
              <a:rPr lang="fr-FR" dirty="0">
                <a:solidFill>
                  <a:schemeClr val="accent2"/>
                </a:solidFill>
              </a:rPr>
              <a:t>Nouveau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8309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9356FA-2FD7-5A1B-D844-B55C3CCC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EE4E8F-7267-89B9-1BBE-8438C9F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35</a:t>
            </a:fld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FC13043-62F5-E7D5-3FF6-9B7899D735E8}"/>
              </a:ext>
            </a:extLst>
          </p:cNvPr>
          <p:cNvSpPr txBox="1"/>
          <p:nvPr/>
        </p:nvSpPr>
        <p:spPr>
          <a:xfrm>
            <a:off x="0" y="1510019"/>
            <a:ext cx="1974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Nouveau projet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ED4FBA0-C386-8BEB-34AD-485FCA068468}"/>
              </a:ext>
            </a:extLst>
          </p:cNvPr>
          <p:cNvSpPr txBox="1"/>
          <p:nvPr/>
        </p:nvSpPr>
        <p:spPr>
          <a:xfrm>
            <a:off x="157446" y="1968079"/>
            <a:ext cx="32635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Vision d’une continuité du projet</a:t>
            </a:r>
          </a:p>
          <a:p>
            <a:endParaRPr lang="fr-FR" dirty="0"/>
          </a:p>
          <a:p>
            <a:r>
              <a:rPr lang="fr-FR" dirty="0"/>
              <a:t>Bilan final du projet finit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275D03D-598C-11A6-5C51-98041439D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862903"/>
              </p:ext>
            </p:extLst>
          </p:nvPr>
        </p:nvGraphicFramePr>
        <p:xfrm>
          <a:off x="3736322" y="2028678"/>
          <a:ext cx="7714365" cy="8021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2873">
                  <a:extLst>
                    <a:ext uri="{9D8B030D-6E8A-4147-A177-3AD203B41FA5}">
                      <a16:colId xmlns:a16="http://schemas.microsoft.com/office/drawing/2014/main" val="1769336252"/>
                    </a:ext>
                  </a:extLst>
                </a:gridCol>
                <a:gridCol w="1542873">
                  <a:extLst>
                    <a:ext uri="{9D8B030D-6E8A-4147-A177-3AD203B41FA5}">
                      <a16:colId xmlns:a16="http://schemas.microsoft.com/office/drawing/2014/main" val="3501369280"/>
                    </a:ext>
                  </a:extLst>
                </a:gridCol>
                <a:gridCol w="1542873">
                  <a:extLst>
                    <a:ext uri="{9D8B030D-6E8A-4147-A177-3AD203B41FA5}">
                      <a16:colId xmlns:a16="http://schemas.microsoft.com/office/drawing/2014/main" val="3676145615"/>
                    </a:ext>
                  </a:extLst>
                </a:gridCol>
                <a:gridCol w="1542873">
                  <a:extLst>
                    <a:ext uri="{9D8B030D-6E8A-4147-A177-3AD203B41FA5}">
                      <a16:colId xmlns:a16="http://schemas.microsoft.com/office/drawing/2014/main" val="1769907721"/>
                    </a:ext>
                  </a:extLst>
                </a:gridCol>
                <a:gridCol w="1542873">
                  <a:extLst>
                    <a:ext uri="{9D8B030D-6E8A-4147-A177-3AD203B41FA5}">
                      <a16:colId xmlns:a16="http://schemas.microsoft.com/office/drawing/2014/main" val="1926893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Poste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Budget prévu (€)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Dépenses réelles (€)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Écart (€)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Écart (%)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5823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Salaires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21 779.8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17 108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4671.8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21.45 %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3383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Frais exceptionnel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5 150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5 150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0 %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88003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Total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26 929.8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22 258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4671.8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17.35 %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7641932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8960E007-1B63-3618-210D-BCCBC8E868CE}"/>
              </a:ext>
            </a:extLst>
          </p:cNvPr>
          <p:cNvSpPr txBox="1"/>
          <p:nvPr/>
        </p:nvSpPr>
        <p:spPr>
          <a:xfrm>
            <a:off x="4856615" y="4142050"/>
            <a:ext cx="4394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Bilan financier positif vis-à-vis des prévisions </a:t>
            </a:r>
          </a:p>
          <a:p>
            <a:r>
              <a:rPr lang="fr-FR" dirty="0"/>
              <a:t>et ce malgré les frais exceptionnels</a:t>
            </a:r>
          </a:p>
        </p:txBody>
      </p:sp>
    </p:spTree>
    <p:extLst>
      <p:ext uri="{BB962C8B-B14F-4D97-AF65-F5344CB8AC3E}">
        <p14:creationId xmlns:p14="http://schemas.microsoft.com/office/powerpoint/2010/main" val="2769241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696DF-7CEB-8E89-84F1-DBA6EF537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07D7E45-0B0F-D19C-EFD0-A93E36DF8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Sylvain TORRENTI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0299F2F-02BF-6ADA-6207-08694BAB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454D-D9BB-46A6-B6D5-A8FBEF343251}" type="slidenum">
              <a:rPr lang="en-GB" smtClean="0"/>
              <a:t>36</a:t>
            </a:fld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ADD9A21-759E-B7BC-9EAD-489707A7FC76}"/>
              </a:ext>
            </a:extLst>
          </p:cNvPr>
          <p:cNvSpPr txBox="1"/>
          <p:nvPr/>
        </p:nvSpPr>
        <p:spPr>
          <a:xfrm>
            <a:off x="0" y="1510019"/>
            <a:ext cx="1974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Nouveau projet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19694C0-9909-0A2B-C343-9BCF6AB3EAAE}"/>
              </a:ext>
            </a:extLst>
          </p:cNvPr>
          <p:cNvSpPr txBox="1"/>
          <p:nvPr/>
        </p:nvSpPr>
        <p:spPr>
          <a:xfrm>
            <a:off x="102945" y="2573642"/>
            <a:ext cx="1160439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Interview des personnes en charges des contrats d’alternances de 2ISA</a:t>
            </a:r>
          </a:p>
          <a:p>
            <a:endParaRPr lang="fr-FR" dirty="0"/>
          </a:p>
          <a:p>
            <a:r>
              <a:rPr lang="fr-FR" dirty="0"/>
              <a:t>Additions des réponses données et de l'expérience acquise lors de ce projet pour trouver des voies d’améliorations</a:t>
            </a:r>
          </a:p>
          <a:p>
            <a:endParaRPr lang="fr-FR" dirty="0"/>
          </a:p>
          <a:p>
            <a:r>
              <a:rPr lang="fr-FR" dirty="0"/>
              <a:t>Aucune vision actuelle du coût probable du nouveau projet</a:t>
            </a:r>
          </a:p>
          <a:p>
            <a:endParaRPr lang="fr-FR" dirty="0"/>
          </a:p>
          <a:p>
            <a:r>
              <a:rPr lang="fr-FR" dirty="0"/>
              <a:t>Aucun planning ne peut être donner car Torrenti Sylvain commence son travail le 01/09/2025 et devra suivre sa prochaine</a:t>
            </a:r>
          </a:p>
          <a:p>
            <a:r>
              <a:rPr lang="fr-FR" dirty="0"/>
              <a:t>formation en alternance</a:t>
            </a:r>
          </a:p>
          <a:p>
            <a:r>
              <a:rPr lang="fr-FR" dirty="0"/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3D45F37-2541-0895-F2BF-364F960E1CDC}"/>
              </a:ext>
            </a:extLst>
          </p:cNvPr>
          <p:cNvSpPr txBox="1"/>
          <p:nvPr/>
        </p:nvSpPr>
        <p:spPr>
          <a:xfrm>
            <a:off x="4344953" y="5496512"/>
            <a:ext cx="35020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Merci de m’avoir écouté</a:t>
            </a:r>
          </a:p>
        </p:txBody>
      </p:sp>
    </p:spTree>
    <p:extLst>
      <p:ext uri="{BB962C8B-B14F-4D97-AF65-F5344CB8AC3E}">
        <p14:creationId xmlns:p14="http://schemas.microsoft.com/office/powerpoint/2010/main" val="23938932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2793</Words>
  <Application>Microsoft Office PowerPoint</Application>
  <PresentationFormat>Grand écran</PresentationFormat>
  <Paragraphs>822</Paragraphs>
  <Slides>36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0" baseType="lpstr">
      <vt:lpstr>Aptos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Sylvain Torrenti</dc:creator>
  <cp:lastModifiedBy>Sylvain Torrenti</cp:lastModifiedBy>
  <cp:revision>36</cp:revision>
  <dcterms:created xsi:type="dcterms:W3CDTF">2023-06-07T12:14:52Z</dcterms:created>
  <dcterms:modified xsi:type="dcterms:W3CDTF">2025-08-19T11:37:02Z</dcterms:modified>
</cp:coreProperties>
</file>