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1"/>
  </p:notesMasterIdLst>
  <p:sldIdLst>
    <p:sldId id="256" r:id="rId2"/>
    <p:sldId id="257" r:id="rId3"/>
    <p:sldId id="258" r:id="rId4"/>
    <p:sldId id="259" r:id="rId5"/>
    <p:sldId id="262" r:id="rId6"/>
    <p:sldId id="265" r:id="rId7"/>
    <p:sldId id="264" r:id="rId8"/>
    <p:sldId id="287" r:id="rId9"/>
    <p:sldId id="261" r:id="rId10"/>
    <p:sldId id="263" r:id="rId11"/>
    <p:sldId id="288" r:id="rId12"/>
    <p:sldId id="260"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9" r:id="rId26"/>
    <p:sldId id="280" r:id="rId27"/>
    <p:sldId id="286" r:id="rId28"/>
    <p:sldId id="281" r:id="rId29"/>
    <p:sldId id="282" r:id="rId30"/>
    <p:sldId id="283" r:id="rId31"/>
    <p:sldId id="284" r:id="rId32"/>
    <p:sldId id="285"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B9DEA-7A8E-4C53-9505-BB6096777F98}" type="datetimeFigureOut">
              <a:rPr lang="fr-FR" smtClean="0"/>
              <a:t>19/03/2025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A5F17-27CA-4A56-8770-70688456BA7C}" type="slidenum">
              <a:rPr lang="fr-FR" smtClean="0"/>
              <a:t>‹N°›</a:t>
            </a:fld>
            <a:endParaRPr lang="fr-FR"/>
          </a:p>
        </p:txBody>
      </p:sp>
    </p:spTree>
    <p:extLst>
      <p:ext uri="{BB962C8B-B14F-4D97-AF65-F5344CB8AC3E}">
        <p14:creationId xmlns:p14="http://schemas.microsoft.com/office/powerpoint/2010/main" val="1123914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ACA5F17-27CA-4A56-8770-70688456BA7C}" type="slidenum">
              <a:rPr lang="fr-FR" smtClean="0"/>
              <a:t>1</a:t>
            </a:fld>
            <a:endParaRPr lang="fr-FR"/>
          </a:p>
        </p:txBody>
      </p:sp>
    </p:spTree>
    <p:extLst>
      <p:ext uri="{BB962C8B-B14F-4D97-AF65-F5344CB8AC3E}">
        <p14:creationId xmlns:p14="http://schemas.microsoft.com/office/powerpoint/2010/main" val="346141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F070799-EED6-46BE-85D7-F30B1BC9C172}"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CB7FBD1-3D1B-4720-80F5-5B3BB06690CD}"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CBD6AD4A-47E5-4FCF-8373-04ABFC68FEEF}"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200A2D2-31A3-489B-AA8C-32DC99FDE086}"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D6284E1-DCDF-466C-B45C-851E7E7D5BDD}" type="datetime1">
              <a:rPr lang="en-US" smtClean="0"/>
              <a:t>3/19/2025</a:t>
            </a:fld>
            <a:endParaRPr lang="en-US" dirty="0"/>
          </a:p>
        </p:txBody>
      </p:sp>
      <p:sp>
        <p:nvSpPr>
          <p:cNvPr id="8" name="Footer Placeholder 7"/>
          <p:cNvSpPr>
            <a:spLocks noGrp="1"/>
          </p:cNvSpPr>
          <p:nvPr>
            <p:ph type="ftr" sz="quarter" idx="11"/>
          </p:nvPr>
        </p:nvSpPr>
        <p:spPr/>
        <p:txBody>
          <a:bodyPr/>
          <a:lstStyle/>
          <a:p>
            <a:r>
              <a:rPr lang="it-IT"/>
              <a:t>PEI / CAI / RSX112 - LR - 2017-2018</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A1622A4-2060-4B7A-8339-1EA1254B458A}" type="datetime1">
              <a:rPr lang="en-US" smtClean="0"/>
              <a:t>3/19/2025</a:t>
            </a:fld>
            <a:endParaRPr lang="en-US" dirty="0"/>
          </a:p>
        </p:txBody>
      </p:sp>
      <p:sp>
        <p:nvSpPr>
          <p:cNvPr id="4" name="Footer Placeholder 3"/>
          <p:cNvSpPr>
            <a:spLocks noGrp="1"/>
          </p:cNvSpPr>
          <p:nvPr>
            <p:ph type="ftr" sz="quarter" idx="11"/>
          </p:nvPr>
        </p:nvSpPr>
        <p:spPr/>
        <p:txBody>
          <a:bodyPr/>
          <a:lstStyle/>
          <a:p>
            <a:r>
              <a:rPr lang="it-IT"/>
              <a:t>PEI / CAI / RSX112 - LR - 2017-2018</a:t>
            </a:r>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4AF6DB-89D2-4AA1-8757-743BB7870526}" type="datetime1">
              <a:rPr lang="en-US" smtClean="0"/>
              <a:t>3/19/2025</a:t>
            </a:fld>
            <a:endParaRPr lang="en-US" dirty="0"/>
          </a:p>
        </p:txBody>
      </p:sp>
      <p:sp>
        <p:nvSpPr>
          <p:cNvPr id="3" name="Footer Placeholder 2"/>
          <p:cNvSpPr>
            <a:spLocks noGrp="1"/>
          </p:cNvSpPr>
          <p:nvPr>
            <p:ph type="ftr" sz="quarter" idx="11"/>
          </p:nvPr>
        </p:nvSpPr>
        <p:spPr/>
        <p:txBody>
          <a:bodyPr/>
          <a:lstStyle/>
          <a:p>
            <a:r>
              <a:rPr lang="it-IT"/>
              <a:t>PEI / CAI / RSX112 - LR - 2017-2018</a:t>
            </a:r>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83852692-0500-4277-97BC-02D6786F2C77}"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8447458C-DD70-428C-A911-F85A43697A72}"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112AAAE4-44B2-437C-B56F-FA2C17EEA30D}"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0539ECC3-071C-43D4-863B-9E5D8C04E79D}"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95ED0C9-A149-44EF-B00F-8CEB5A83C39A}"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E27D87CE-5EF1-4706-BB01-00EA985655AD}"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81AE31A7-4A9A-4EEE-86A7-D675CB1076C4}" type="datetime1">
              <a:rPr lang="en-US" smtClean="0"/>
              <a:t>3/19/2025</a:t>
            </a:fld>
            <a:endParaRPr lang="en-US" dirty="0"/>
          </a:p>
        </p:txBody>
      </p:sp>
      <p:sp>
        <p:nvSpPr>
          <p:cNvPr id="6" name="Footer Placeholder 5"/>
          <p:cNvSpPr>
            <a:spLocks noGrp="1"/>
          </p:cNvSpPr>
          <p:nvPr>
            <p:ph type="ftr" sz="quarter" idx="11"/>
          </p:nvPr>
        </p:nvSpPr>
        <p:spPr/>
        <p:txBody>
          <a:bodyPr/>
          <a:lstStyle/>
          <a:p>
            <a:r>
              <a:rPr lang="it-IT"/>
              <a:t>PEI / CAI / RSX112 - LR - 2017-2018</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1127E4-09BF-4158-BAF2-F889C75C296F}"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E56B8C9-AB68-4CF1-AA90-BEDC2E931401}" type="datetime1">
              <a:rPr lang="en-US" smtClean="0"/>
              <a:t>3/19/2025</a:t>
            </a:fld>
            <a:endParaRPr lang="en-US" dirty="0"/>
          </a:p>
        </p:txBody>
      </p:sp>
      <p:sp>
        <p:nvSpPr>
          <p:cNvPr id="5" name="Footer Placeholder 4"/>
          <p:cNvSpPr>
            <a:spLocks noGrp="1"/>
          </p:cNvSpPr>
          <p:nvPr>
            <p:ph type="ftr" sz="quarter" idx="11"/>
          </p:nvPr>
        </p:nvSpPr>
        <p:spPr/>
        <p:txBody>
          <a:bodyPr/>
          <a:lstStyle/>
          <a:p>
            <a:r>
              <a:rPr lang="it-IT"/>
              <a:t>PEI / CAI / RSX112 - LR - 2017-2018</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AEB736E-C8A7-4A31-AB3A-474D3FFF740A}" type="datetime1">
              <a:rPr lang="en-US" smtClean="0"/>
              <a:t>3/19/2025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it-IT"/>
              <a:t>PEI / CAI / RSX112 - LR - 2017-2018</a:t>
            </a:r>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7.jpg"/><Relationship Id="rId2" Type="http://schemas.openxmlformats.org/officeDocument/2006/relationships/hyperlink" Target="https://fr.wikipedia.org/wiki/Loi_de_fiabilit%C3%A9"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gif"/><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gi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lebigdata.fr/gdpr-reglement-europeen"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4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chor="t">
            <a:noAutofit/>
          </a:bodyPr>
          <a:lstStyle/>
          <a:p>
            <a:r>
              <a:rPr lang="fr-FR" sz="3200" dirty="0"/>
              <a:t>SEC105 – Architectures et bonnes pratiques pour la sécurité des systèmes, réseaux données et applications</a:t>
            </a:r>
            <a:br>
              <a:rPr lang="fr-FR" sz="3200" dirty="0"/>
            </a:br>
            <a:r>
              <a:rPr lang="fr-FR" sz="1400" i="1" dirty="0"/>
              <a:t>PEI Millau – Concepteur Architecte Informatique (toutes spécialités)</a:t>
            </a:r>
          </a:p>
        </p:txBody>
      </p:sp>
      <p:sp>
        <p:nvSpPr>
          <p:cNvPr id="3" name="Sous-titre 2"/>
          <p:cNvSpPr>
            <a:spLocks noGrp="1"/>
          </p:cNvSpPr>
          <p:nvPr>
            <p:ph type="subTitle" idx="1"/>
          </p:nvPr>
        </p:nvSpPr>
        <p:spPr/>
        <p:txBody>
          <a:bodyPr/>
          <a:lstStyle/>
          <a:p>
            <a:r>
              <a:rPr lang="fr-FR" i="1" dirty="0"/>
              <a:t>Disponibilité et sureté de fonctionnement</a:t>
            </a:r>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sp>
        <p:nvSpPr>
          <p:cNvPr id="11" name="Espace réservé du pied de page 10"/>
          <p:cNvSpPr>
            <a:spLocks noGrp="1"/>
          </p:cNvSpPr>
          <p:nvPr>
            <p:ph type="ftr" sz="quarter" idx="11"/>
          </p:nvPr>
        </p:nvSpPr>
        <p:spPr/>
        <p:txBody>
          <a:bodyPr/>
          <a:lstStyle/>
          <a:p>
            <a:r>
              <a:rPr lang="it-IT" sz="1000" i="1" dirty="0"/>
              <a:t>PEI / CAI / SEC105- LR - 2020/2021 – VT </a:t>
            </a:r>
            <a:r>
              <a:rPr lang="it-IT" sz="1000" i="1" dirty="0" smtClean="0"/>
              <a:t>2023 – MP 2025</a:t>
            </a:r>
            <a:endParaRPr lang="en-US" sz="1000" i="1" dirty="0"/>
          </a:p>
        </p:txBody>
      </p:sp>
      <p:sp>
        <p:nvSpPr>
          <p:cNvPr id="12" name="Espace réservé du numéro de diapositive 11"/>
          <p:cNvSpPr>
            <a:spLocks noGrp="1"/>
          </p:cNvSpPr>
          <p:nvPr>
            <p:ph type="sldNum" sz="quarter" idx="12"/>
          </p:nvPr>
        </p:nvSpPr>
        <p:spPr/>
        <p:txBody>
          <a:bodyPr/>
          <a:lstStyle/>
          <a:p>
            <a:fld id="{D57F1E4F-1CFF-5643-939E-217C01CDF565}" type="slidenum">
              <a:rPr lang="en-US" smtClean="0"/>
              <a:pPr/>
              <a:t>1</a:t>
            </a:fld>
            <a:endParaRPr lang="en-US" dirty="0"/>
          </a:p>
        </p:txBody>
      </p:sp>
      <p:pic>
        <p:nvPicPr>
          <p:cNvPr id="13" name="Imag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Tree>
    <p:extLst>
      <p:ext uri="{BB962C8B-B14F-4D97-AF65-F5344CB8AC3E}">
        <p14:creationId xmlns:p14="http://schemas.microsoft.com/office/powerpoint/2010/main" val="210209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Plan</a:t>
            </a:r>
          </a:p>
        </p:txBody>
      </p:sp>
      <p:sp>
        <p:nvSpPr>
          <p:cNvPr id="3" name="Espace réservé du contenu 2"/>
          <p:cNvSpPr>
            <a:spLocks noGrp="1"/>
          </p:cNvSpPr>
          <p:nvPr>
            <p:ph idx="1"/>
          </p:nvPr>
        </p:nvSpPr>
        <p:spPr>
          <a:xfrm>
            <a:off x="2589212" y="1532709"/>
            <a:ext cx="8915400" cy="4432662"/>
          </a:xfrm>
        </p:spPr>
        <p:txBody>
          <a:bodyPr/>
          <a:lstStyle/>
          <a:p>
            <a:endParaRPr lang="fr-FR" dirty="0"/>
          </a:p>
          <a:p>
            <a:r>
              <a:rPr lang="fr-FR" dirty="0"/>
              <a:t>Définitions</a:t>
            </a:r>
          </a:p>
          <a:p>
            <a:r>
              <a:rPr lang="fr-FR" dirty="0"/>
              <a:t>Les Datacenter</a:t>
            </a:r>
          </a:p>
          <a:p>
            <a:r>
              <a:rPr lang="fr-FR" dirty="0"/>
              <a:t>ANSI/TIA-942 </a:t>
            </a:r>
          </a:p>
          <a:p>
            <a:r>
              <a:rPr lang="fr-FR" dirty="0"/>
              <a:t>Disponibilité et Haute disponibilité</a:t>
            </a:r>
          </a:p>
          <a:p>
            <a:r>
              <a:rPr lang="fr-FR" dirty="0"/>
              <a:t>Les composantes de la haute disponibilité</a:t>
            </a:r>
          </a:p>
          <a:p>
            <a:r>
              <a:rPr lang="fr-FR" dirty="0"/>
              <a:t>RTO / RPO</a:t>
            </a:r>
          </a:p>
          <a:p>
            <a:r>
              <a:rPr lang="fr-FR" dirty="0"/>
              <a:t>PCA / PRA</a:t>
            </a:r>
          </a:p>
          <a:p>
            <a:endParaRPr lang="fr-FR" dirty="0"/>
          </a:p>
          <a:p>
            <a:endParaRPr lang="fr-FR" dirty="0"/>
          </a:p>
          <a:p>
            <a:endParaRPr lang="fr-FR"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287510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06379" y="624110"/>
            <a:ext cx="9898234" cy="1280890"/>
          </a:xfrm>
        </p:spPr>
        <p:txBody>
          <a:bodyPr/>
          <a:lstStyle/>
          <a:p>
            <a:r>
              <a:rPr lang="fr-FR" dirty="0"/>
              <a:t>Définition simple : disponibilité</a:t>
            </a:r>
          </a:p>
        </p:txBody>
      </p:sp>
      <p:sp>
        <p:nvSpPr>
          <p:cNvPr id="3" name="Espace réservé du contenu 2"/>
          <p:cNvSpPr>
            <a:spLocks noGrp="1"/>
          </p:cNvSpPr>
          <p:nvPr>
            <p:ph idx="1"/>
          </p:nvPr>
        </p:nvSpPr>
        <p:spPr>
          <a:xfrm>
            <a:off x="2140527" y="1350818"/>
            <a:ext cx="9364085" cy="4560404"/>
          </a:xfrm>
        </p:spPr>
        <p:txBody>
          <a:bodyPr>
            <a:normAutofit/>
          </a:bodyPr>
          <a:lstStyle/>
          <a:p>
            <a:pPr marL="0" indent="0">
              <a:buNone/>
            </a:pPr>
            <a:r>
              <a:rPr lang="fr-FR" b="1" u="sng" dirty="0"/>
              <a:t>[WIKIPEDIA]</a:t>
            </a:r>
            <a:endParaRPr lang="fr-FR" dirty="0"/>
          </a:p>
          <a:p>
            <a:r>
              <a:rPr lang="fr-FR" dirty="0"/>
              <a:t>Par définition, la disponibilité est l'aptitude d'un bien/d'une entité à être en état d'accomplir une fonction requise dans des conditions données, à un instant donné ou pendant un intervalle de temps donné, en supposant que la fourniture des moyens extérieurs nécessaires soit assurée</a:t>
            </a:r>
            <a:endParaRPr lang="fr-FR" b="1" dirty="0"/>
          </a:p>
          <a:p>
            <a:r>
              <a:rPr lang="fr-FR" dirty="0"/>
              <a:t>La disponibilité d'un équipement ou d'un système est une mesure de performance qu'on obtient en divisant la durée durant laquelle ledit équipement ou système est opérationnel par la durée totale durant laquelle on aurait souhaité qu'il le soit. On exprime classiquement ce ratio sous forme de pourcentage. </a:t>
            </a:r>
          </a:p>
          <a:p>
            <a:endParaRPr lang="fr-FR"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0" name="Image 9"/>
          <p:cNvPicPr>
            <a:picLocks noChangeAspect="1"/>
          </p:cNvPicPr>
          <p:nvPr/>
        </p:nvPicPr>
        <p:blipFill>
          <a:blip r:embed="rId4"/>
          <a:stretch>
            <a:fillRect/>
          </a:stretch>
        </p:blipFill>
        <p:spPr>
          <a:xfrm>
            <a:off x="4967416" y="4274523"/>
            <a:ext cx="5444469" cy="2226410"/>
          </a:xfrm>
          <a:prstGeom prst="rect">
            <a:avLst/>
          </a:prstGeom>
        </p:spPr>
      </p:pic>
      <p:sp>
        <p:nvSpPr>
          <p:cNvPr id="11"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258415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Définition simple : Sureté de fonctionnement</a:t>
            </a:r>
          </a:p>
        </p:txBody>
      </p:sp>
      <p:sp>
        <p:nvSpPr>
          <p:cNvPr id="3" name="Espace réservé du contenu 2"/>
          <p:cNvSpPr>
            <a:spLocks noGrp="1"/>
          </p:cNvSpPr>
          <p:nvPr>
            <p:ph idx="1"/>
          </p:nvPr>
        </p:nvSpPr>
        <p:spPr>
          <a:xfrm>
            <a:off x="2140527" y="1350818"/>
            <a:ext cx="9364085" cy="4560404"/>
          </a:xfrm>
        </p:spPr>
        <p:txBody>
          <a:bodyPr>
            <a:normAutofit/>
          </a:bodyPr>
          <a:lstStyle/>
          <a:p>
            <a:pPr marL="0" indent="0">
              <a:buNone/>
            </a:pPr>
            <a:r>
              <a:rPr lang="fr-FR" b="1" u="sng" dirty="0"/>
              <a:t>[WIKIPEDIA]</a:t>
            </a:r>
            <a:endParaRPr lang="fr-FR" dirty="0"/>
          </a:p>
          <a:p>
            <a:r>
              <a:rPr lang="fr-FR" dirty="0"/>
              <a:t>La sûreté de fonctionnement est l'aptitude d'un système à remplir une ou plusieurs fonctions requises dans des conditions données ; elle englobe principalement quatre composantes : la fiabilité, la maintenabilité, la disponibilité et la sécurité. </a:t>
            </a:r>
            <a:endParaRPr lang="fr-FR" b="1" dirty="0"/>
          </a:p>
          <a:p>
            <a:pPr marL="0" indent="0">
              <a:buNone/>
            </a:pPr>
            <a:r>
              <a:rPr lang="fr-FR" b="1" dirty="0"/>
              <a:t>Et par extension: </a:t>
            </a:r>
            <a:endParaRPr lang="fr-FR" dirty="0"/>
          </a:p>
          <a:p>
            <a:r>
              <a:rPr lang="fr-FR" dirty="0"/>
              <a:t>la sûreté de fonctionnement désigne également l'étude de cette aptitude et peut ainsi être considérée comme la « science des défaillances et des pannes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9" name="Image 8"/>
          <p:cNvPicPr>
            <a:picLocks noChangeAspect="1"/>
          </p:cNvPicPr>
          <p:nvPr/>
        </p:nvPicPr>
        <p:blipFill>
          <a:blip r:embed="rId4"/>
          <a:stretch>
            <a:fillRect/>
          </a:stretch>
        </p:blipFill>
        <p:spPr>
          <a:xfrm>
            <a:off x="3920075" y="4025075"/>
            <a:ext cx="5650607" cy="2110733"/>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515264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Définition simple : Défaillance</a:t>
            </a:r>
          </a:p>
        </p:txBody>
      </p:sp>
      <p:sp>
        <p:nvSpPr>
          <p:cNvPr id="3" name="Espace réservé du contenu 2"/>
          <p:cNvSpPr>
            <a:spLocks noGrp="1"/>
          </p:cNvSpPr>
          <p:nvPr>
            <p:ph idx="1"/>
          </p:nvPr>
        </p:nvSpPr>
        <p:spPr>
          <a:xfrm>
            <a:off x="2140527" y="1350818"/>
            <a:ext cx="9364085" cy="4560404"/>
          </a:xfrm>
        </p:spPr>
        <p:txBody>
          <a:bodyPr>
            <a:normAutofit/>
          </a:bodyPr>
          <a:lstStyle/>
          <a:p>
            <a:r>
              <a:rPr lang="fr-FR" dirty="0"/>
              <a:t>LA DEFAILLANCE, c’est « l’altération ou la cessation de l’aptitude d’un ensemble à accomplir sa ou ses fonction(s) requise(s) avec les performances définies dans les spécifications techniques »</a:t>
            </a:r>
          </a:p>
          <a:p>
            <a:r>
              <a:rPr lang="fr-FR" dirty="0"/>
              <a:t>La cessation de l’aptitude conduit l’entité à être en état de PANNE.</a:t>
            </a:r>
          </a:p>
          <a:p>
            <a:r>
              <a:rPr lang="fr-FR" dirty="0"/>
              <a:t>Dans le cas d’une dégradation sans perte totale de la fonctionnement, on considère qu’il s’agit d’une DEFAILLANCE si sa performance tombe en dessous d’un seuil défini.</a:t>
            </a:r>
          </a:p>
          <a:p>
            <a:endParaRPr lang="fr-FR" dirty="0"/>
          </a:p>
          <a:p>
            <a:r>
              <a:rPr lang="fr-FR" dirty="0"/>
              <a:t>Certains secteurs industriels ont dressés une liste standardisée des défaillances fonctionnelles : </a:t>
            </a:r>
          </a:p>
          <a:p>
            <a:pPr marL="0" indent="0">
              <a:buNone/>
            </a:pPr>
            <a:endParaRPr lang="fr-FR" dirty="0"/>
          </a:p>
          <a:p>
            <a:endParaRPr lang="fr-FR" dirty="0"/>
          </a:p>
          <a:p>
            <a:endParaRPr lang="fr-FR"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9" name="Image 8"/>
          <p:cNvPicPr>
            <a:picLocks noChangeAspect="1"/>
          </p:cNvPicPr>
          <p:nvPr/>
        </p:nvPicPr>
        <p:blipFill>
          <a:blip r:embed="rId4"/>
          <a:stretch>
            <a:fillRect/>
          </a:stretch>
        </p:blipFill>
        <p:spPr>
          <a:xfrm>
            <a:off x="4735520" y="4682760"/>
            <a:ext cx="5467350" cy="1981200"/>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034187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La défaillance</a:t>
            </a:r>
          </a:p>
        </p:txBody>
      </p:sp>
      <p:sp>
        <p:nvSpPr>
          <p:cNvPr id="3" name="Espace réservé du contenu 2"/>
          <p:cNvSpPr>
            <a:spLocks noGrp="1"/>
          </p:cNvSpPr>
          <p:nvPr>
            <p:ph idx="1"/>
          </p:nvPr>
        </p:nvSpPr>
        <p:spPr>
          <a:xfrm>
            <a:off x="2140527" y="1350818"/>
            <a:ext cx="9364085" cy="4560404"/>
          </a:xfrm>
        </p:spPr>
        <p:txBody>
          <a:bodyPr>
            <a:normAutofit/>
          </a:bodyPr>
          <a:lstStyle/>
          <a:p>
            <a:r>
              <a:rPr lang="fr-FR" dirty="0"/>
              <a:t>En général, nous utilisons une échelle de gravité des effets d’une défaillance pour les caractériser. Cette échelle contiens traditionnellement 4 catégories : </a:t>
            </a:r>
          </a:p>
          <a:p>
            <a:endParaRPr lang="fr-FR" dirty="0"/>
          </a:p>
          <a:p>
            <a:pPr marL="0" indent="0">
              <a:buNone/>
            </a:pPr>
            <a:endParaRPr lang="fr-FR" dirty="0"/>
          </a:p>
          <a:p>
            <a:pPr marL="0" indent="0">
              <a:buNone/>
            </a:pPr>
            <a:endParaRPr lang="fr-FR" dirty="0"/>
          </a:p>
          <a:p>
            <a:endParaRPr lang="fr-FR" dirty="0"/>
          </a:p>
          <a:p>
            <a:endParaRPr lang="fr-FR"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graphicFrame>
        <p:nvGraphicFramePr>
          <p:cNvPr id="10" name="Tableau 9"/>
          <p:cNvGraphicFramePr>
            <a:graphicFrameLocks noGrp="1"/>
          </p:cNvGraphicFramePr>
          <p:nvPr>
            <p:extLst>
              <p:ext uri="{D42A27DB-BD31-4B8C-83A1-F6EECF244321}">
                <p14:modId xmlns:p14="http://schemas.microsoft.com/office/powerpoint/2010/main" val="3682129346"/>
              </p:ext>
            </p:extLst>
          </p:nvPr>
        </p:nvGraphicFramePr>
        <p:xfrm>
          <a:off x="2350366" y="2034002"/>
          <a:ext cx="8128000" cy="4419600"/>
        </p:xfrm>
        <a:graphic>
          <a:graphicData uri="http://schemas.openxmlformats.org/drawingml/2006/table">
            <a:tbl>
              <a:tblPr firstRow="1" bandRow="1">
                <a:tableStyleId>{ED083AE6-46FA-4A59-8FB0-9F97EB10719F}</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fr-FR" sz="1400" b="1" dirty="0"/>
                        <a:t>Défaillance</a:t>
                      </a:r>
                      <a:r>
                        <a:rPr lang="fr-FR" sz="1400" b="1" baseline="0" dirty="0"/>
                        <a:t> mineure (minor)</a:t>
                      </a:r>
                      <a:endParaRPr lang="fr-FR" sz="1400" b="1" dirty="0"/>
                    </a:p>
                  </a:txBody>
                  <a:tcPr/>
                </a:tc>
                <a:tc>
                  <a:txBody>
                    <a:bodyPr/>
                    <a:lstStyle/>
                    <a:p>
                      <a:r>
                        <a:rPr lang="fr-FR" sz="1400" b="0" dirty="0"/>
                        <a:t>Défaillance</a:t>
                      </a:r>
                      <a:r>
                        <a:rPr lang="fr-FR" sz="1400" b="0" baseline="0" dirty="0"/>
                        <a:t> qui nuit au bon fonctionnement d’un système en causant un dommage négligeable au système ou à son environnement, sans représenter de risque pour l’homme.</a:t>
                      </a:r>
                      <a:endParaRPr lang="fr-FR" sz="1400" b="0" dirty="0"/>
                    </a:p>
                  </a:txBody>
                  <a:tcPr/>
                </a:tc>
                <a:extLst>
                  <a:ext uri="{0D108BD9-81ED-4DB2-BD59-A6C34878D82A}">
                    <a16:rowId xmlns:a16="http://schemas.microsoft.com/office/drawing/2014/main" val="10000"/>
                  </a:ext>
                </a:extLst>
              </a:tr>
              <a:tr h="370840">
                <a:tc>
                  <a:txBody>
                    <a:bodyPr/>
                    <a:lstStyle/>
                    <a:p>
                      <a:r>
                        <a:rPr lang="fr-FR" sz="1400" b="1" dirty="0"/>
                        <a:t>Défaillance significative (major)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Défaillance qui nuit au bon fonctionnement du système sans causer</a:t>
                      </a:r>
                      <a:r>
                        <a:rPr lang="fr-FR" sz="1400" baseline="0" dirty="0"/>
                        <a:t> de dommage notable au système ou à son environnement </a:t>
                      </a:r>
                      <a:r>
                        <a:rPr lang="fr-FR" sz="1400" b="0" baseline="0" dirty="0"/>
                        <a:t>sans représenter de risque pour l’homme</a:t>
                      </a:r>
                      <a:r>
                        <a:rPr lang="fr-FR" sz="1400" baseline="0" dirty="0"/>
                        <a:t>.</a:t>
                      </a:r>
                      <a:endParaRPr lang="fr-FR" sz="1400" dirty="0"/>
                    </a:p>
                  </a:txBody>
                  <a:tcPr/>
                </a:tc>
                <a:extLst>
                  <a:ext uri="{0D108BD9-81ED-4DB2-BD59-A6C34878D82A}">
                    <a16:rowId xmlns:a16="http://schemas.microsoft.com/office/drawing/2014/main" val="10001"/>
                  </a:ext>
                </a:extLst>
              </a:tr>
              <a:tr h="370840">
                <a:tc>
                  <a:txBody>
                    <a:bodyPr/>
                    <a:lstStyle/>
                    <a:p>
                      <a:r>
                        <a:rPr lang="fr-FR" sz="1400" b="1" dirty="0"/>
                        <a:t>Défaillance</a:t>
                      </a:r>
                      <a:r>
                        <a:rPr lang="fr-FR" sz="1400" b="1" baseline="0" dirty="0"/>
                        <a:t> critique (</a:t>
                      </a:r>
                      <a:r>
                        <a:rPr lang="fr-FR" sz="1400" b="1" baseline="0" dirty="0" err="1"/>
                        <a:t>hazardous</a:t>
                      </a:r>
                      <a:r>
                        <a:rPr lang="fr-FR" sz="1400" b="1" baseline="0" dirty="0"/>
                        <a:t>)</a:t>
                      </a:r>
                      <a:endParaRPr lang="fr-FR" sz="1400" b="1" dirty="0"/>
                    </a:p>
                  </a:txBody>
                  <a:tcPr/>
                </a:tc>
                <a:tc>
                  <a:txBody>
                    <a:bodyPr/>
                    <a:lstStyle/>
                    <a:p>
                      <a:r>
                        <a:rPr lang="fr-FR" sz="1400" dirty="0"/>
                        <a:t>Défaillance qui entraine la perte d’une fonction essentielle du système</a:t>
                      </a:r>
                      <a:r>
                        <a:rPr lang="fr-FR" sz="1400" baseline="0" dirty="0"/>
                        <a:t> et cause des dommages importants au système ou à son environnement et ne représentant qu’un risque négligeable pour l’homme.</a:t>
                      </a:r>
                      <a:endParaRPr lang="fr-FR" sz="1400" dirty="0"/>
                    </a:p>
                  </a:txBody>
                  <a:tcPr/>
                </a:tc>
                <a:extLst>
                  <a:ext uri="{0D108BD9-81ED-4DB2-BD59-A6C34878D82A}">
                    <a16:rowId xmlns:a16="http://schemas.microsoft.com/office/drawing/2014/main" val="10002"/>
                  </a:ext>
                </a:extLst>
              </a:tr>
              <a:tr h="370840">
                <a:tc>
                  <a:txBody>
                    <a:bodyPr/>
                    <a:lstStyle/>
                    <a:p>
                      <a:r>
                        <a:rPr lang="fr-FR" sz="1400" b="1" dirty="0"/>
                        <a:t>Défaillance catastrophique (</a:t>
                      </a:r>
                      <a:r>
                        <a:rPr lang="fr-FR" sz="1400" b="1" dirty="0" err="1"/>
                        <a:t>catastrophic</a:t>
                      </a:r>
                      <a:r>
                        <a:rPr lang="fr-FR" sz="1400" b="1" dirty="0"/>
                        <a:t>)</a:t>
                      </a:r>
                    </a:p>
                  </a:txBody>
                  <a:tcPr/>
                </a:tc>
                <a:tc>
                  <a:txBody>
                    <a:bodyPr/>
                    <a:lstStyle/>
                    <a:p>
                      <a:r>
                        <a:rPr lang="fr-FR" sz="1400" dirty="0"/>
                        <a:t>Défaillance qui entraine la perte d’une fonction essentielle du système </a:t>
                      </a:r>
                      <a:r>
                        <a:rPr lang="fr-FR" sz="1400" dirty="0" err="1"/>
                        <a:t>système</a:t>
                      </a:r>
                      <a:r>
                        <a:rPr lang="fr-FR" sz="1400" baseline="0" dirty="0"/>
                        <a:t> et cause des dommages importants au système ou à son environnement et entrainant des dommages pour l’homme.</a:t>
                      </a:r>
                      <a:endParaRPr lang="fr-FR" sz="1400" dirty="0"/>
                    </a:p>
                  </a:txBody>
                  <a:tcPr/>
                </a:tc>
                <a:extLst>
                  <a:ext uri="{0D108BD9-81ED-4DB2-BD59-A6C34878D82A}">
                    <a16:rowId xmlns:a16="http://schemas.microsoft.com/office/drawing/2014/main" val="10003"/>
                  </a:ext>
                </a:extLst>
              </a:tr>
            </a:tbl>
          </a:graphicData>
        </a:graphic>
      </p:graphicFrame>
      <p:sp>
        <p:nvSpPr>
          <p:cNvPr id="11"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09383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Définition simple : Fiabilité</a:t>
            </a:r>
          </a:p>
        </p:txBody>
      </p:sp>
      <p:sp>
        <p:nvSpPr>
          <p:cNvPr id="3" name="Espace réservé du contenu 2"/>
          <p:cNvSpPr>
            <a:spLocks noGrp="1"/>
          </p:cNvSpPr>
          <p:nvPr>
            <p:ph idx="1"/>
          </p:nvPr>
        </p:nvSpPr>
        <p:spPr>
          <a:xfrm>
            <a:off x="2140527" y="1350818"/>
            <a:ext cx="9364085" cy="4560404"/>
          </a:xfrm>
        </p:spPr>
        <p:txBody>
          <a:bodyPr>
            <a:normAutofit/>
          </a:bodyPr>
          <a:lstStyle/>
          <a:p>
            <a:r>
              <a:rPr lang="fr-FR" dirty="0"/>
              <a:t>LA FIABILITE est l’aptitude d’une entité à accomplir une fonction requise pendant un intervalle de temps donné, dans des conditions données. </a:t>
            </a:r>
          </a:p>
          <a:p>
            <a:endParaRPr lang="fr-FR" dirty="0"/>
          </a:p>
          <a:p>
            <a:endParaRPr lang="fr-FR" dirty="0"/>
          </a:p>
          <a:p>
            <a:r>
              <a:rPr lang="fr-FR" dirty="0"/>
              <a:t>La notion de fiabilité induit un vocabulaire spécifique :</a:t>
            </a:r>
          </a:p>
          <a:p>
            <a:pPr lvl="1"/>
            <a:r>
              <a:rPr lang="fr-FR" b="1" dirty="0"/>
              <a:t>MTTF</a:t>
            </a:r>
            <a:r>
              <a:rPr lang="fr-FR" dirty="0"/>
              <a:t> signifie" </a:t>
            </a:r>
            <a:r>
              <a:rPr lang="fr-FR" dirty="0" err="1"/>
              <a:t>Mean</a:t>
            </a:r>
            <a:r>
              <a:rPr lang="fr-FR" dirty="0"/>
              <a:t> Time To </a:t>
            </a:r>
            <a:r>
              <a:rPr lang="fr-FR" dirty="0" err="1"/>
              <a:t>Failure</a:t>
            </a:r>
            <a:r>
              <a:rPr lang="fr-FR" dirty="0"/>
              <a:t>" (Temps moyen de fonctionnement avant panne).</a:t>
            </a:r>
          </a:p>
          <a:p>
            <a:pPr lvl="1"/>
            <a:r>
              <a:rPr lang="fr-FR" b="1" dirty="0"/>
              <a:t>MTBF</a:t>
            </a:r>
            <a:r>
              <a:rPr lang="fr-FR" dirty="0"/>
              <a:t> signifie" </a:t>
            </a:r>
            <a:r>
              <a:rPr lang="fr-FR" dirty="0" err="1"/>
              <a:t>Mean</a:t>
            </a:r>
            <a:r>
              <a:rPr lang="fr-FR" dirty="0"/>
              <a:t> Time </a:t>
            </a:r>
            <a:r>
              <a:rPr lang="fr-FR" dirty="0" err="1"/>
              <a:t>Between</a:t>
            </a:r>
            <a:r>
              <a:rPr lang="fr-FR" dirty="0"/>
              <a:t> </a:t>
            </a:r>
            <a:r>
              <a:rPr lang="fr-FR" dirty="0" err="1"/>
              <a:t>Failure</a:t>
            </a:r>
            <a:r>
              <a:rPr lang="fr-FR" dirty="0"/>
              <a:t>" (Temps moyen entre pannes).</a:t>
            </a:r>
          </a:p>
          <a:p>
            <a:pPr lvl="1"/>
            <a:r>
              <a:rPr lang="fr-FR" b="1" dirty="0"/>
              <a:t>MDT</a:t>
            </a:r>
            <a:r>
              <a:rPr lang="fr-FR" dirty="0"/>
              <a:t> signifie " </a:t>
            </a:r>
            <a:r>
              <a:rPr lang="fr-FR" dirty="0" err="1"/>
              <a:t>Mean</a:t>
            </a:r>
            <a:r>
              <a:rPr lang="fr-FR" dirty="0"/>
              <a:t> Down Time " (Durée moyenne d’indisponibilité)</a:t>
            </a:r>
          </a:p>
          <a:p>
            <a:pPr lvl="1"/>
            <a:r>
              <a:rPr lang="fr-FR" b="1" dirty="0"/>
              <a:t>MUT</a:t>
            </a:r>
            <a:r>
              <a:rPr lang="fr-FR" dirty="0"/>
              <a:t> </a:t>
            </a:r>
            <a:r>
              <a:rPr lang="fr-FR" dirty="0" err="1"/>
              <a:t>signiife</a:t>
            </a:r>
            <a:r>
              <a:rPr lang="fr-FR" dirty="0"/>
              <a:t> " </a:t>
            </a:r>
            <a:r>
              <a:rPr lang="fr-FR" dirty="0" err="1"/>
              <a:t>Mean</a:t>
            </a:r>
            <a:r>
              <a:rPr lang="fr-FR" dirty="0"/>
              <a:t> Up Time " (Durée moyenne de fonctionnement après réparation)</a:t>
            </a:r>
          </a:p>
          <a:p>
            <a:pPr lvl="1"/>
            <a:r>
              <a:rPr lang="fr-FR" b="1" dirty="0"/>
              <a:t>MTTR</a:t>
            </a:r>
            <a:r>
              <a:rPr lang="fr-FR" dirty="0"/>
              <a:t> signifie " </a:t>
            </a:r>
            <a:r>
              <a:rPr lang="fr-FR" dirty="0" err="1"/>
              <a:t>Mean</a:t>
            </a:r>
            <a:r>
              <a:rPr lang="fr-FR" dirty="0"/>
              <a:t> Time To </a:t>
            </a:r>
            <a:r>
              <a:rPr lang="fr-FR" dirty="0" err="1"/>
              <a:t>Repair</a:t>
            </a:r>
            <a:r>
              <a:rPr lang="fr-FR" dirty="0"/>
              <a:t> " (Durée moyenne de réparation )</a:t>
            </a:r>
          </a:p>
          <a:p>
            <a:endParaRPr lang="fr-FR"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725019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La Fiabilité</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140527" y="1878970"/>
                <a:ext cx="9364085" cy="4218402"/>
              </a:xfrm>
            </p:spPr>
            <p:txBody>
              <a:bodyPr>
                <a:normAutofit fontScale="92500" lnSpcReduction="20000"/>
              </a:bodyPr>
              <a:lstStyle/>
              <a:p>
                <a:r>
                  <a:rPr lang="fr-FR" i="1" dirty="0">
                    <a:latin typeface="Cambria Math" panose="02040503050406030204" pitchFamily="18" charset="0"/>
                  </a:rPr>
                  <a:t>Les deux indicateurs utilisés en introduction à la notion et au calcul de fiabilité sont le MTBF et le Taux de panne  Lambda «     » </a:t>
                </a:r>
              </a:p>
              <a:p>
                <a:r>
                  <a:rPr lang="fr-FR" b="1" i="1" dirty="0">
                    <a:latin typeface="Cambria Math" panose="02040503050406030204" pitchFamily="18" charset="0"/>
                  </a:rPr>
                  <a:t> </a:t>
                </a:r>
                <a:r>
                  <a:rPr lang="fr-FR" b="1" dirty="0"/>
                  <a:t>« </a:t>
                </a:r>
                <a:r>
                  <a:rPr lang="fr-FR" b="1" dirty="0" err="1"/>
                  <a:t>Mean</a:t>
                </a:r>
                <a:r>
                  <a:rPr lang="fr-FR" b="1" dirty="0"/>
                  <a:t> Time </a:t>
                </a:r>
                <a:r>
                  <a:rPr lang="fr-FR" b="1" dirty="0" err="1"/>
                  <a:t>Between</a:t>
                </a:r>
                <a:r>
                  <a:rPr lang="fr-FR" b="1" dirty="0"/>
                  <a:t> </a:t>
                </a:r>
                <a:r>
                  <a:rPr lang="fr-FR" b="1" dirty="0" err="1"/>
                  <a:t>Failure</a:t>
                </a:r>
                <a:r>
                  <a:rPr lang="fr-FR" b="1" dirty="0"/>
                  <a:t> » - Temps moyen entre les pannes</a:t>
                </a:r>
              </a:p>
              <a:p>
                <a:pPr lvl="1"/>
                <a:r>
                  <a:rPr lang="fr-FR" dirty="0"/>
                  <a:t>Le MTBF,  représente la moyenne des temps de bon fonctionnement entre deux défaillances. Il est souvent calculé sur une période de temps incluant plusieurs défaillances. Ainsi </a:t>
                </a:r>
              </a:p>
              <a:p>
                <a:pPr marL="457200" lvl="1" indent="0">
                  <a:buNone/>
                </a:pPr>
                <a:endParaRPr lang="fr-FR" dirty="0"/>
              </a:p>
              <a:p>
                <a:pPr marL="457200" lvl="1"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𝑀𝑇𝐵𝐹</m:t>
                      </m:r>
                      <m:r>
                        <a:rPr lang="fr-FR" i="1" smtClean="0">
                          <a:latin typeface="Cambria Math" panose="02040503050406030204" pitchFamily="18" charset="0"/>
                        </a:rPr>
                        <m:t>=</m:t>
                      </m:r>
                      <m:f>
                        <m:fPr>
                          <m:ctrlPr>
                            <a:rPr lang="fr-FR" i="1" smtClean="0">
                              <a:latin typeface="Cambria Math" panose="02040503050406030204" pitchFamily="18" charset="0"/>
                            </a:rPr>
                          </m:ctrlPr>
                        </m:fPr>
                        <m:num>
                          <m:nary>
                            <m:naryPr>
                              <m:chr m:val="∑"/>
                              <m:subHide m:val="on"/>
                              <m:supHide m:val="on"/>
                              <m:ctrlPr>
                                <a:rPr lang="fr-FR" i="1" smtClean="0">
                                  <a:latin typeface="Cambria Math" panose="02040503050406030204" pitchFamily="18" charset="0"/>
                                </a:rPr>
                              </m:ctrlPr>
                            </m:naryPr>
                            <m:sub/>
                            <m:sup/>
                            <m:e>
                              <m:r>
                                <a:rPr lang="fr-FR" b="0" i="1" smtClean="0">
                                  <a:latin typeface="Cambria Math" panose="02040503050406030204" pitchFamily="18" charset="0"/>
                                </a:rPr>
                                <m:t>𝑛</m:t>
                              </m:r>
                            </m:e>
                          </m:nary>
                          <m:r>
                            <a:rPr lang="fr-FR" b="0" i="1" smtClean="0">
                              <a:latin typeface="Cambria Math" panose="02040503050406030204" pitchFamily="18" charset="0"/>
                            </a:rPr>
                            <m:t> </m:t>
                          </m:r>
                          <m:r>
                            <a:rPr lang="fr-FR" b="0" i="1" smtClean="0">
                              <a:latin typeface="Cambria Math" panose="02040503050406030204" pitchFamily="18" charset="0"/>
                            </a:rPr>
                            <m:t>𝑡𝑒𝑚𝑝</m:t>
                          </m:r>
                          <m:r>
                            <a:rPr lang="fr-FR" b="0" i="1" smtClean="0">
                              <a:latin typeface="Cambria Math" panose="02040503050406030204" pitchFamily="18" charset="0"/>
                            </a:rPr>
                            <m:t> </m:t>
                          </m:r>
                          <m:r>
                            <a:rPr lang="fr-FR" b="0" i="1" smtClean="0">
                              <a:latin typeface="Cambria Math" panose="02040503050406030204" pitchFamily="18" charset="0"/>
                            </a:rPr>
                            <m:t>𝑑𝑒</m:t>
                          </m:r>
                          <m:r>
                            <a:rPr lang="fr-FR" b="0" i="1" smtClean="0">
                              <a:latin typeface="Cambria Math" panose="02040503050406030204" pitchFamily="18" charset="0"/>
                            </a:rPr>
                            <m:t> </m:t>
                          </m:r>
                          <m:r>
                            <a:rPr lang="fr-FR" b="0" i="1" smtClean="0">
                              <a:latin typeface="Cambria Math" panose="02040503050406030204" pitchFamily="18" charset="0"/>
                            </a:rPr>
                            <m:t>𝑏𝑜𝑛</m:t>
                          </m:r>
                          <m:r>
                            <a:rPr lang="fr-FR" b="0" i="1" smtClean="0">
                              <a:latin typeface="Cambria Math" panose="02040503050406030204" pitchFamily="18" charset="0"/>
                            </a:rPr>
                            <m:t> </m:t>
                          </m:r>
                          <m:r>
                            <a:rPr lang="fr-FR" b="0" i="1" smtClean="0">
                              <a:latin typeface="Cambria Math" panose="02040503050406030204" pitchFamily="18" charset="0"/>
                            </a:rPr>
                            <m:t>𝑓𝑜𝑛𝑐𝑡𝑖𝑜𝑛𝑛𝑒𝑚𝑒𝑛𝑡</m:t>
                          </m:r>
                          <m:r>
                            <a:rPr lang="fr-FR" b="0" i="1" smtClean="0">
                              <a:latin typeface="Cambria Math" panose="02040503050406030204" pitchFamily="18" charset="0"/>
                            </a:rPr>
                            <m:t> </m:t>
                          </m:r>
                          <m:r>
                            <a:rPr lang="fr-FR" b="0" i="1" smtClean="0">
                              <a:latin typeface="Cambria Math" panose="02040503050406030204" pitchFamily="18" charset="0"/>
                            </a:rPr>
                            <m:t>𝑑</m:t>
                          </m:r>
                          <m:r>
                            <a:rPr lang="fr-FR" b="0" i="1" smtClean="0">
                              <a:latin typeface="Cambria Math" panose="02040503050406030204" pitchFamily="18" charset="0"/>
                            </a:rPr>
                            <m:t>é</m:t>
                          </m:r>
                          <m:r>
                            <a:rPr lang="fr-FR" b="0" i="1" smtClean="0">
                              <a:latin typeface="Cambria Math" panose="02040503050406030204" pitchFamily="18" charset="0"/>
                            </a:rPr>
                            <m:t>𝑓𝑎𝑖𝑙𝑙𝑎𝑛𝑐𝑒𝑠</m:t>
                          </m:r>
                          <m:r>
                            <a:rPr lang="fr-FR" b="0" i="1" smtClean="0">
                              <a:latin typeface="Cambria Math" panose="02040503050406030204" pitchFamily="18" charset="0"/>
                            </a:rPr>
                            <m:t> (</m:t>
                          </m:r>
                          <m:r>
                            <a:rPr lang="fr-FR" b="0" i="1" smtClean="0">
                              <a:latin typeface="Cambria Math" panose="02040503050406030204" pitchFamily="18" charset="0"/>
                            </a:rPr>
                            <m:t>𝑀𝑈𝑇</m:t>
                          </m:r>
                          <m:r>
                            <a:rPr lang="fr-FR" b="0" i="1" smtClean="0">
                              <a:latin typeface="Cambria Math" panose="02040503050406030204" pitchFamily="18" charset="0"/>
                            </a:rPr>
                            <m:t>)</m:t>
                          </m:r>
                        </m:num>
                        <m:den>
                          <m:r>
                            <a:rPr lang="fr-FR" b="0" i="1" smtClean="0">
                              <a:latin typeface="Cambria Math" panose="02040503050406030204" pitchFamily="18" charset="0"/>
                            </a:rPr>
                            <m:t>𝑛</m:t>
                          </m:r>
                        </m:den>
                      </m:f>
                    </m:oMath>
                  </m:oMathPara>
                </a14:m>
                <a:endParaRPr lang="fr-FR" dirty="0"/>
              </a:p>
              <a:p>
                <a:pPr marL="0" indent="0">
                  <a:buNone/>
                </a:pPr>
                <a:r>
                  <a:rPr lang="fr-FR" i="1" dirty="0">
                    <a:latin typeface="Cambria Math" panose="02040503050406030204" pitchFamily="18" charset="0"/>
                  </a:rPr>
                  <a:t>n étant le nombre de défaillances</a:t>
                </a:r>
              </a:p>
              <a:p>
                <a:r>
                  <a:rPr lang="fr-FR" b="1" i="1" dirty="0">
                    <a:latin typeface="Cambria Math" panose="02040503050406030204" pitchFamily="18" charset="0"/>
                  </a:rPr>
                  <a:t>Taux de panne</a:t>
                </a:r>
              </a:p>
              <a:p>
                <a:pPr marL="0" indent="0">
                  <a:buNone/>
                </a:pPr>
                <a:r>
                  <a:rPr lang="fr-FR" dirty="0">
                    <a:latin typeface="Cambria Math" panose="02040503050406030204" pitchFamily="18" charset="0"/>
                  </a:rPr>
                  <a:t>Si le taux de pannes est dit constant (cas des composants électroniques), alors d’après la </a:t>
                </a:r>
                <a:r>
                  <a:rPr lang="fr-FR" dirty="0">
                    <a:latin typeface="Cambria Math" panose="02040503050406030204" pitchFamily="18" charset="0"/>
                    <a:hlinkClick r:id="rId2"/>
                  </a:rPr>
                  <a:t>loi de la fiabilité</a:t>
                </a:r>
                <a:r>
                  <a:rPr lang="fr-FR" dirty="0">
                    <a:latin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ea typeface="Cambria Math" panose="02040503050406030204" pitchFamily="18" charset="0"/>
                        </a:rPr>
                        <m:t>=</m:t>
                      </m:r>
                      <m:f>
                        <m:fPr>
                          <m:ctrlPr>
                            <a:rPr lang="fr-FR" b="0" i="1" smtClean="0">
                              <a:latin typeface="Cambria Math" panose="02040503050406030204" pitchFamily="18" charset="0"/>
                              <a:ea typeface="Cambria Math" panose="02040503050406030204" pitchFamily="18" charset="0"/>
                            </a:rPr>
                          </m:ctrlPr>
                        </m:fPr>
                        <m:num>
                          <m:r>
                            <a:rPr lang="fr-FR" b="0" i="1" smtClean="0">
                              <a:latin typeface="Cambria Math" panose="02040503050406030204" pitchFamily="18" charset="0"/>
                              <a:ea typeface="Cambria Math" panose="02040503050406030204" pitchFamily="18" charset="0"/>
                            </a:rPr>
                            <m:t>1</m:t>
                          </m:r>
                        </m:num>
                        <m:den>
                          <m:r>
                            <a:rPr lang="fr-FR" b="0" i="1" smtClean="0">
                              <a:latin typeface="Cambria Math" panose="02040503050406030204" pitchFamily="18" charset="0"/>
                              <a:ea typeface="Cambria Math" panose="02040503050406030204" pitchFamily="18" charset="0"/>
                            </a:rPr>
                            <m:t>𝑀𝑇𝐵𝐹</m:t>
                          </m:r>
                        </m:den>
                      </m:f>
                    </m:oMath>
                  </m:oMathPara>
                </a14:m>
                <a:endParaRPr lang="fr-FR" dirty="0">
                  <a:latin typeface="Cambria Math" panose="02040503050406030204" pitchFamily="18" charset="0"/>
                </a:endParaRPr>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140527" y="1878970"/>
                <a:ext cx="9364085" cy="4218402"/>
              </a:xfrm>
              <a:blipFill rotWithShape="0">
                <a:blip r:embed="rId3"/>
                <a:stretch>
                  <a:fillRect l="-391" t="-1590" r="-651"/>
                </a:stretch>
              </a:blipFill>
            </p:spPr>
            <p:txBody>
              <a:bodyPr/>
              <a:lstStyle/>
              <a:p>
                <a:r>
                  <a:rPr lang="fr-FR">
                    <a:noFill/>
                  </a:rPr>
                  <a:t> </a:t>
                </a:r>
              </a:p>
            </p:txBody>
          </p:sp>
        </mc:Fallback>
      </mc:AlternateContent>
      <p:sp>
        <p:nvSpPr>
          <p:cNvPr id="5" name="Espace réservé du numéro de diapositive 4"/>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6" name="Imag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1" name="Image 10"/>
          <p:cNvPicPr>
            <a:picLocks noChangeAspect="1"/>
          </p:cNvPicPr>
          <p:nvPr/>
        </p:nvPicPr>
        <p:blipFill>
          <a:blip r:embed="rId6"/>
          <a:stretch>
            <a:fillRect/>
          </a:stretch>
        </p:blipFill>
        <p:spPr>
          <a:xfrm>
            <a:off x="4991966" y="598080"/>
            <a:ext cx="5486400" cy="1219200"/>
          </a:xfrm>
          <a:prstGeom prst="rect">
            <a:avLst/>
          </a:prstGeom>
        </p:spPr>
      </p:pic>
      <p:pic>
        <p:nvPicPr>
          <p:cNvPr id="10" name="Imag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65235" y="2125144"/>
            <a:ext cx="119743" cy="172131"/>
          </a:xfrm>
          <a:prstGeom prst="rect">
            <a:avLst/>
          </a:prstGeom>
        </p:spPr>
      </p:pic>
      <p:pic>
        <p:nvPicPr>
          <p:cNvPr id="15" name="Image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10264" y="5477945"/>
            <a:ext cx="119743" cy="172131"/>
          </a:xfrm>
          <a:prstGeom prst="rect">
            <a:avLst/>
          </a:prstGeom>
        </p:spPr>
      </p:pic>
      <p:sp>
        <p:nvSpPr>
          <p:cNvPr id="12"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04055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La Fiabilité</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140527" y="1878970"/>
                <a:ext cx="9364085" cy="4218402"/>
              </a:xfrm>
            </p:spPr>
            <p:txBody>
              <a:bodyPr>
                <a:normAutofit/>
              </a:bodyPr>
              <a:lstStyle/>
              <a:p>
                <a:r>
                  <a:rPr lang="fr-FR" dirty="0"/>
                  <a:t>« </a:t>
                </a:r>
                <a:r>
                  <a:rPr lang="fr-FR" dirty="0" err="1"/>
                  <a:t>Mean</a:t>
                </a:r>
                <a:r>
                  <a:rPr lang="fr-FR" dirty="0"/>
                  <a:t> Time To </a:t>
                </a:r>
                <a:r>
                  <a:rPr lang="fr-FR" dirty="0" err="1"/>
                  <a:t>Failure</a:t>
                </a:r>
                <a:r>
                  <a:rPr lang="fr-FR" dirty="0"/>
                  <a:t> »</a:t>
                </a:r>
              </a:p>
              <a:p>
                <a:pPr marL="457200" lvl="1" indent="0">
                  <a:buNone/>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𝑴𝑻𝑻𝑭</m:t>
                      </m:r>
                      <m:r>
                        <a:rPr lang="fr-FR" b="1" i="1" smtClean="0">
                          <a:latin typeface="Cambria Math" panose="02040503050406030204" pitchFamily="18" charset="0"/>
                        </a:rPr>
                        <m:t>= </m:t>
                      </m:r>
                      <m:f>
                        <m:fPr>
                          <m:ctrlPr>
                            <a:rPr lang="fr-FR" i="1" smtClean="0">
                              <a:latin typeface="Cambria Math" panose="02040503050406030204" pitchFamily="18" charset="0"/>
                            </a:rPr>
                          </m:ctrlPr>
                        </m:fPr>
                        <m:num>
                          <m:nary>
                            <m:naryPr>
                              <m:chr m:val="∑"/>
                              <m:subHide m:val="on"/>
                              <m:supHide m:val="on"/>
                              <m:ctrlPr>
                                <a:rPr lang="fr-FR" i="1" smtClean="0">
                                  <a:latin typeface="Cambria Math" panose="02040503050406030204" pitchFamily="18" charset="0"/>
                                </a:rPr>
                              </m:ctrlPr>
                            </m:naryPr>
                            <m:sub/>
                            <m:sup/>
                            <m:e>
                              <m:r>
                                <a:rPr lang="fr-FR" b="0" i="1" smtClean="0">
                                  <a:latin typeface="Cambria Math" panose="02040503050406030204" pitchFamily="18" charset="0"/>
                                </a:rPr>
                                <m:t>𝑛</m:t>
                              </m:r>
                            </m:e>
                          </m:nary>
                          <m:r>
                            <a:rPr lang="fr-FR" b="0" i="1" smtClean="0">
                              <a:latin typeface="Cambria Math" panose="02040503050406030204" pitchFamily="18" charset="0"/>
                            </a:rPr>
                            <m:t> </m:t>
                          </m:r>
                          <m:r>
                            <a:rPr lang="fr-FR" b="0" i="1" smtClean="0">
                              <a:latin typeface="Cambria Math" panose="02040503050406030204" pitchFamily="18" charset="0"/>
                            </a:rPr>
                            <m:t>𝐷𝑢𝑟</m:t>
                          </m:r>
                          <m:r>
                            <a:rPr lang="fr-FR" b="0" i="1" smtClean="0">
                              <a:latin typeface="Cambria Math" panose="02040503050406030204" pitchFamily="18" charset="0"/>
                            </a:rPr>
                            <m:t>é</m:t>
                          </m:r>
                          <m:r>
                            <a:rPr lang="fr-FR" b="0" i="1" smtClean="0">
                              <a:latin typeface="Cambria Math" panose="02040503050406030204" pitchFamily="18" charset="0"/>
                            </a:rPr>
                            <m:t>𝑒</m:t>
                          </m:r>
                          <m:r>
                            <a:rPr lang="fr-FR" b="0" i="1" smtClean="0">
                              <a:latin typeface="Cambria Math" panose="02040503050406030204" pitchFamily="18" charset="0"/>
                            </a:rPr>
                            <m:t> </m:t>
                          </m:r>
                          <m:r>
                            <a:rPr lang="fr-FR" b="0" i="1" smtClean="0">
                              <a:latin typeface="Cambria Math" panose="02040503050406030204" pitchFamily="18" charset="0"/>
                            </a:rPr>
                            <m:t>𝑚𝑜𝑦𝑒𝑛𝑛𝑒</m:t>
                          </m:r>
                          <m:r>
                            <a:rPr lang="fr-FR" b="0" i="1" smtClean="0">
                              <a:latin typeface="Cambria Math" panose="02040503050406030204" pitchFamily="18" charset="0"/>
                            </a:rPr>
                            <m:t> </m:t>
                          </m:r>
                          <m:r>
                            <a:rPr lang="fr-FR" b="0" i="1" smtClean="0">
                              <a:latin typeface="Cambria Math" panose="02040503050406030204" pitchFamily="18" charset="0"/>
                            </a:rPr>
                            <m:t>𝑑𝑒</m:t>
                          </m:r>
                          <m:r>
                            <a:rPr lang="fr-FR" b="0" i="1" smtClean="0">
                              <a:latin typeface="Cambria Math" panose="02040503050406030204" pitchFamily="18" charset="0"/>
                            </a:rPr>
                            <m:t> </m:t>
                          </m:r>
                          <m:r>
                            <a:rPr lang="fr-FR" b="0" i="1" smtClean="0">
                              <a:latin typeface="Cambria Math" panose="02040503050406030204" pitchFamily="18" charset="0"/>
                            </a:rPr>
                            <m:t>𝑓𝑜𝑛𝑐𝑡𝑖𝑜𝑛𝑛𝑒𝑚𝑒𝑛𝑡</m:t>
                          </m:r>
                          <m:r>
                            <a:rPr lang="fr-FR" b="0" i="1" smtClean="0">
                              <a:latin typeface="Cambria Math" panose="02040503050406030204" pitchFamily="18" charset="0"/>
                            </a:rPr>
                            <m:t> </m:t>
                          </m:r>
                        </m:num>
                        <m:den>
                          <m:r>
                            <a:rPr lang="fr-FR" b="0" i="1" smtClean="0">
                              <a:latin typeface="Cambria Math" panose="02040503050406030204" pitchFamily="18" charset="0"/>
                            </a:rPr>
                            <m:t>𝑛</m:t>
                          </m:r>
                        </m:den>
                      </m:f>
                    </m:oMath>
                  </m:oMathPara>
                </a14:m>
                <a:endParaRPr lang="fr-FR" i="1" dirty="0">
                  <a:latin typeface="Cambria Math" panose="02040503050406030204" pitchFamily="18" charset="0"/>
                </a:endParaRPr>
              </a:p>
              <a:p>
                <a:pPr marL="457200" lvl="1" indent="0">
                  <a:buNone/>
                </a:pPr>
                <a:r>
                  <a:rPr lang="fr-FR" sz="1200" i="1" dirty="0"/>
                  <a:t>Avec dans l’exemple, durée moyenne de fonctionnement = MTTF + somme(MUT)</a:t>
                </a:r>
              </a:p>
              <a:p>
                <a:endParaRPr lang="fr-FR" b="1" i="1" dirty="0">
                  <a:latin typeface="Cambria Math" panose="02040503050406030204" pitchFamily="18" charset="0"/>
                </a:endParaRPr>
              </a:p>
              <a:p>
                <a:r>
                  <a:rPr lang="fr-FR" b="1" i="1" dirty="0">
                    <a:latin typeface="Cambria Math" panose="02040503050406030204" pitchFamily="18" charset="0"/>
                  </a:rPr>
                  <a:t>« </a:t>
                </a:r>
                <a:r>
                  <a:rPr lang="fr-FR" dirty="0"/>
                  <a:t> </a:t>
                </a:r>
                <a:r>
                  <a:rPr lang="fr-FR" dirty="0" err="1"/>
                  <a:t>Mean</a:t>
                </a:r>
                <a:r>
                  <a:rPr lang="fr-FR" dirty="0"/>
                  <a:t> Time To </a:t>
                </a:r>
                <a:r>
                  <a:rPr lang="fr-FR" dirty="0" err="1"/>
                  <a:t>Repair</a:t>
                </a:r>
                <a:r>
                  <a:rPr lang="fr-FR" dirty="0"/>
                  <a:t> », ou indice de maintenabilité</a:t>
                </a:r>
              </a:p>
              <a:p>
                <a:pPr lvl="1"/>
                <a14:m>
                  <m:oMath xmlns:m="http://schemas.openxmlformats.org/officeDocument/2006/math">
                    <m:r>
                      <a:rPr lang="fr-FR" b="1" i="1" smtClean="0">
                        <a:latin typeface="Cambria Math" panose="02040503050406030204" pitchFamily="18" charset="0"/>
                      </a:rPr>
                      <m:t>𝑴𝑻𝑻𝑹</m:t>
                    </m:r>
                    <m:r>
                      <a:rPr lang="fr-FR" b="1" i="1" smtClean="0">
                        <a:latin typeface="Cambria Math" panose="02040503050406030204" pitchFamily="18" charset="0"/>
                      </a:rPr>
                      <m:t>=</m:t>
                    </m:r>
                    <m:f>
                      <m:fPr>
                        <m:ctrlPr>
                          <a:rPr lang="fr-FR" b="1" i="1" smtClean="0">
                            <a:latin typeface="Cambria Math" panose="02040503050406030204" pitchFamily="18" charset="0"/>
                          </a:rPr>
                        </m:ctrlPr>
                      </m:fPr>
                      <m:num>
                        <m:r>
                          <a:rPr lang="fr-FR" b="1" i="1" smtClean="0">
                            <a:latin typeface="Cambria Math" panose="02040503050406030204" pitchFamily="18" charset="0"/>
                          </a:rPr>
                          <m:t>𝑻𝒆𝒎𝒑𝒔</m:t>
                        </m:r>
                        <m:r>
                          <a:rPr lang="fr-FR" b="1" i="1" smtClean="0">
                            <a:latin typeface="Cambria Math" panose="02040503050406030204" pitchFamily="18" charset="0"/>
                          </a:rPr>
                          <m:t> </m:t>
                        </m:r>
                        <m:sSup>
                          <m:sSupPr>
                            <m:ctrlPr>
                              <a:rPr lang="fr-FR" b="1" i="1" smtClean="0">
                                <a:latin typeface="Cambria Math" panose="02040503050406030204" pitchFamily="18" charset="0"/>
                              </a:rPr>
                            </m:ctrlPr>
                          </m:sSupPr>
                          <m:e>
                            <m:r>
                              <a:rPr lang="fr-FR" b="1" i="1" smtClean="0">
                                <a:latin typeface="Cambria Math" panose="02040503050406030204" pitchFamily="18" charset="0"/>
                              </a:rPr>
                              <m:t>𝒅</m:t>
                            </m:r>
                          </m:e>
                          <m:sup>
                            <m:r>
                              <a:rPr lang="fr-FR" b="1" i="1" smtClean="0">
                                <a:latin typeface="Cambria Math" panose="02040503050406030204" pitchFamily="18" charset="0"/>
                              </a:rPr>
                              <m:t>′</m:t>
                            </m:r>
                          </m:sup>
                        </m:sSup>
                        <m:r>
                          <a:rPr lang="fr-FR" b="1" i="1" smtClean="0">
                            <a:latin typeface="Cambria Math" panose="02040503050406030204" pitchFamily="18" charset="0"/>
                          </a:rPr>
                          <m:t>𝒂𝒓𝒓</m:t>
                        </m:r>
                        <m:r>
                          <a:rPr lang="fr-FR" b="1" i="1" smtClean="0">
                            <a:latin typeface="Cambria Math" panose="02040503050406030204" pitchFamily="18" charset="0"/>
                          </a:rPr>
                          <m:t>ê</m:t>
                        </m:r>
                        <m:r>
                          <a:rPr lang="fr-FR" b="1" i="1" smtClean="0">
                            <a:latin typeface="Cambria Math" panose="02040503050406030204" pitchFamily="18" charset="0"/>
                          </a:rPr>
                          <m:t>𝒕</m:t>
                        </m:r>
                        <m:r>
                          <a:rPr lang="fr-FR" b="1" i="1" smtClean="0">
                            <a:latin typeface="Cambria Math" panose="02040503050406030204" pitchFamily="18" charset="0"/>
                          </a:rPr>
                          <m:t> </m:t>
                        </m:r>
                        <m:r>
                          <a:rPr lang="fr-FR" b="1" i="1" smtClean="0">
                            <a:latin typeface="Cambria Math" panose="02040503050406030204" pitchFamily="18" charset="0"/>
                          </a:rPr>
                          <m:t>𝒕𝒐𝒕𝒂𝒍</m:t>
                        </m:r>
                      </m:num>
                      <m:den>
                        <m:r>
                          <a:rPr lang="fr-FR" b="1" i="1" smtClean="0">
                            <a:latin typeface="Cambria Math" panose="02040503050406030204" pitchFamily="18" charset="0"/>
                          </a:rPr>
                          <m:t>𝒏𝒐𝒎𝒃𝒓𝒆</m:t>
                        </m:r>
                        <m:r>
                          <a:rPr lang="fr-FR" b="1" i="1" smtClean="0">
                            <a:latin typeface="Cambria Math" panose="02040503050406030204" pitchFamily="18" charset="0"/>
                          </a:rPr>
                          <m:t> </m:t>
                        </m:r>
                        <m:sSup>
                          <m:sSupPr>
                            <m:ctrlPr>
                              <a:rPr lang="fr-FR" b="1" i="1" smtClean="0">
                                <a:latin typeface="Cambria Math" panose="02040503050406030204" pitchFamily="18" charset="0"/>
                              </a:rPr>
                            </m:ctrlPr>
                          </m:sSupPr>
                          <m:e>
                            <m:r>
                              <a:rPr lang="fr-FR" b="1" i="1" smtClean="0">
                                <a:latin typeface="Cambria Math" panose="02040503050406030204" pitchFamily="18" charset="0"/>
                              </a:rPr>
                              <m:t>𝒅</m:t>
                            </m:r>
                          </m:e>
                          <m:sup>
                            <m:r>
                              <a:rPr lang="fr-FR" b="1" i="1" smtClean="0">
                                <a:latin typeface="Cambria Math" panose="02040503050406030204" pitchFamily="18" charset="0"/>
                              </a:rPr>
                              <m:t>′</m:t>
                            </m:r>
                          </m:sup>
                        </m:sSup>
                        <m:r>
                          <a:rPr lang="fr-FR" b="1" i="1" smtClean="0">
                            <a:latin typeface="Cambria Math" panose="02040503050406030204" pitchFamily="18" charset="0"/>
                          </a:rPr>
                          <m:t>𝒂𝒓𝒓</m:t>
                        </m:r>
                        <m:r>
                          <a:rPr lang="fr-FR" b="1" i="1" smtClean="0">
                            <a:latin typeface="Cambria Math" panose="02040503050406030204" pitchFamily="18" charset="0"/>
                          </a:rPr>
                          <m:t>ê</m:t>
                        </m:r>
                        <m:r>
                          <a:rPr lang="fr-FR" b="1" i="1" smtClean="0">
                            <a:latin typeface="Cambria Math" panose="02040503050406030204" pitchFamily="18" charset="0"/>
                          </a:rPr>
                          <m:t>𝒕</m:t>
                        </m:r>
                      </m:den>
                    </m:f>
                  </m:oMath>
                </a14:m>
                <a:endParaRPr lang="fr-FR" b="1" i="1" dirty="0">
                  <a:latin typeface="Cambria Math" panose="02040503050406030204" pitchFamily="18" charset="0"/>
                </a:endParaRPr>
              </a:p>
              <a:p>
                <a:pPr marL="457200" lvl="1" indent="0">
                  <a:buNone/>
                </a:pPr>
                <a:r>
                  <a:rPr lang="fr-FR" sz="1200" i="1" dirty="0"/>
                  <a:t>Cet indicateur défini clairement le temps moyen pour réparer, et exprime la moyenne du temps des tâches de réparation. Il est calculé en additionnant les temps actifs de maintenance ainsi que les temps annexes de maintenance, le tout divisé par le nombre d’interventions.</a:t>
                </a:r>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140527" y="1878970"/>
                <a:ext cx="9364085" cy="4218402"/>
              </a:xfrm>
              <a:blipFill rotWithShape="0">
                <a:blip r:embed="rId2"/>
                <a:stretch>
                  <a:fillRect l="-456" t="-723"/>
                </a:stretch>
              </a:blipFill>
            </p:spPr>
            <p:txBody>
              <a:bodyPr/>
              <a:lstStyle/>
              <a:p>
                <a:r>
                  <a:rPr lang="fr-FR">
                    <a:noFill/>
                  </a:rPr>
                  <a:t> </a:t>
                </a:r>
              </a:p>
            </p:txBody>
          </p:sp>
        </mc:Fallback>
      </mc:AlternateContent>
      <p:sp>
        <p:nvSpPr>
          <p:cNvPr id="5" name="Espace réservé du numéro de diapositive 4"/>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1" name="Image 10"/>
          <p:cNvPicPr>
            <a:picLocks noChangeAspect="1"/>
          </p:cNvPicPr>
          <p:nvPr/>
        </p:nvPicPr>
        <p:blipFill>
          <a:blip r:embed="rId5"/>
          <a:stretch>
            <a:fillRect/>
          </a:stretch>
        </p:blipFill>
        <p:spPr>
          <a:xfrm>
            <a:off x="4991966" y="598080"/>
            <a:ext cx="5486400" cy="1219200"/>
          </a:xfrm>
          <a:prstGeom prst="rect">
            <a:avLst/>
          </a:prstGeom>
        </p:spPr>
      </p:pic>
      <p:pic>
        <p:nvPicPr>
          <p:cNvPr id="13" name="Image 12"/>
          <p:cNvPicPr>
            <a:picLocks noChangeAspect="1"/>
          </p:cNvPicPr>
          <p:nvPr/>
        </p:nvPicPr>
        <p:blipFill>
          <a:blip r:embed="rId6"/>
          <a:stretch>
            <a:fillRect/>
          </a:stretch>
        </p:blipFill>
        <p:spPr>
          <a:xfrm>
            <a:off x="4661847" y="5063341"/>
            <a:ext cx="5419725" cy="904875"/>
          </a:xfrm>
          <a:prstGeom prst="rect">
            <a:avLst/>
          </a:prstGeom>
        </p:spPr>
      </p:pic>
      <p:sp>
        <p:nvSpPr>
          <p:cNvPr id="12"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574554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La Fiabilité</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140527" y="1878970"/>
                <a:ext cx="9364085" cy="4218402"/>
              </a:xfrm>
            </p:spPr>
            <p:txBody>
              <a:bodyPr>
                <a:normAutofit/>
              </a:bodyPr>
              <a:lstStyle/>
              <a:p>
                <a:r>
                  <a:rPr lang="fr-FR" dirty="0"/>
                  <a:t>Le taux de disponibilité</a:t>
                </a:r>
              </a:p>
              <a:p>
                <a:pPr lvl="1"/>
                <a:r>
                  <a:rPr lang="fr-FR" dirty="0"/>
                  <a:t>Cette notion exprime la probabilité qu’une entité soit en un état de « disponibilité » dans des conditions données à un instant donné en supposant que la fourniture de moyens extérieurs soit assurée.</a:t>
                </a:r>
              </a:p>
              <a:p>
                <a:pPr lvl="1"/>
                <a:r>
                  <a:rPr lang="fr-FR" dirty="0"/>
                  <a:t>Elle correspond au rapport entre le temps effectif de disponibilité / le temps requis</a:t>
                </a:r>
              </a:p>
              <a:p>
                <a:pPr lvl="1"/>
                <a:endParaRPr lang="fr-FR" dirty="0"/>
              </a:p>
              <a:p>
                <a:pPr lvl="1"/>
                <a:r>
                  <a:rPr lang="fr-FR" dirty="0"/>
                  <a:t>Elle s’exprime de la manière suivante : </a:t>
                </a:r>
              </a:p>
              <a:p>
                <a:pPr marL="457200" lvl="1"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𝐷𝑖𝑠𝑝𝑜𝑛𝑖𝑏𝑖𝑙𝑖𝑡</m:t>
                      </m:r>
                      <m:r>
                        <a:rPr lang="fr-FR" b="0" i="1" smtClean="0">
                          <a:latin typeface="Cambria Math" panose="02040503050406030204" pitchFamily="18" charset="0"/>
                        </a:rPr>
                        <m:t>é=</m:t>
                      </m:r>
                      <m:f>
                        <m:fPr>
                          <m:ctrlPr>
                            <a:rPr lang="fr-FR" i="1" smtClean="0">
                              <a:latin typeface="Cambria Math" panose="02040503050406030204" pitchFamily="18" charset="0"/>
                            </a:rPr>
                          </m:ctrlPr>
                        </m:fPr>
                        <m:num>
                          <m:r>
                            <a:rPr lang="fr-FR" b="0" i="1" smtClean="0">
                              <a:latin typeface="Cambria Math" panose="02040503050406030204" pitchFamily="18" charset="0"/>
                            </a:rPr>
                            <m:t>𝑀𝑇𝐵𝐹</m:t>
                          </m:r>
                        </m:num>
                        <m:den>
                          <m:r>
                            <a:rPr lang="fr-FR" b="0" i="1" smtClean="0">
                              <a:latin typeface="Cambria Math" panose="02040503050406030204" pitchFamily="18" charset="0"/>
                            </a:rPr>
                            <m:t>𝑀𝑇𝑇𝑅</m:t>
                          </m:r>
                          <m:r>
                            <a:rPr lang="fr-FR" b="0" i="1" smtClean="0">
                              <a:latin typeface="Cambria Math" panose="02040503050406030204" pitchFamily="18" charset="0"/>
                            </a:rPr>
                            <m:t>+</m:t>
                          </m:r>
                          <m:r>
                            <a:rPr lang="fr-FR" b="0" i="1" smtClean="0">
                              <a:latin typeface="Cambria Math" panose="02040503050406030204" pitchFamily="18" charset="0"/>
                            </a:rPr>
                            <m:t>𝑀𝑇𝐵𝐹</m:t>
                          </m:r>
                        </m:den>
                      </m:f>
                    </m:oMath>
                  </m:oMathPara>
                </a14:m>
                <a:endParaRPr lang="fr-FR" dirty="0"/>
              </a:p>
              <a:p>
                <a:pPr lvl="1"/>
                <a:r>
                  <a:rPr lang="fr-FR" dirty="0"/>
                  <a:t>Pour faire plus simple : </a:t>
                </a:r>
              </a:p>
              <a:p>
                <a:pPr marL="457200" lvl="1" indent="0">
                  <a:buNone/>
                </a:pPr>
                <a:r>
                  <a:rPr lang="fr-FR" dirty="0"/>
                  <a:t>	La disponibilité, c’est </a:t>
                </a:r>
                <a14:m>
                  <m:oMath xmlns:m="http://schemas.openxmlformats.org/officeDocument/2006/math">
                    <m:f>
                      <m:fPr>
                        <m:ctrlPr>
                          <a:rPr lang="fr-FR" i="1" smtClean="0">
                            <a:latin typeface="Cambria Math" panose="02040503050406030204" pitchFamily="18" charset="0"/>
                          </a:rPr>
                        </m:ctrlPr>
                      </m:fPr>
                      <m:num>
                        <m:r>
                          <a:rPr lang="fr-FR" b="0" i="1" smtClean="0">
                            <a:latin typeface="Cambria Math" panose="02040503050406030204" pitchFamily="18" charset="0"/>
                          </a:rPr>
                          <m:t>𝑡𝑒𝑚𝑝𝑠</m:t>
                        </m:r>
                        <m:r>
                          <a:rPr lang="fr-FR" b="0" i="1" smtClean="0">
                            <a:latin typeface="Cambria Math" panose="02040503050406030204" pitchFamily="18" charset="0"/>
                          </a:rPr>
                          <m:t> </m:t>
                        </m:r>
                        <m:r>
                          <a:rPr lang="fr-FR" b="0" i="1" smtClean="0">
                            <a:latin typeface="Cambria Math" panose="02040503050406030204" pitchFamily="18" charset="0"/>
                          </a:rPr>
                          <m:t>𝑚𝑜𝑦𝑒𝑛</m:t>
                        </m:r>
                        <m:r>
                          <a:rPr lang="fr-FR" b="0" i="1" smtClean="0">
                            <a:latin typeface="Cambria Math" panose="02040503050406030204" pitchFamily="18" charset="0"/>
                          </a:rPr>
                          <m:t> </m:t>
                        </m:r>
                        <m:r>
                          <a:rPr lang="fr-FR" b="0" i="1" smtClean="0">
                            <a:latin typeface="Cambria Math" panose="02040503050406030204" pitchFamily="18" charset="0"/>
                          </a:rPr>
                          <m:t>𝑒𝑛𝑡𝑟𝑒</m:t>
                        </m:r>
                        <m:r>
                          <a:rPr lang="fr-FR" b="0" i="1" smtClean="0">
                            <a:latin typeface="Cambria Math" panose="02040503050406030204" pitchFamily="18" charset="0"/>
                          </a:rPr>
                          <m:t> </m:t>
                        </m:r>
                        <m:r>
                          <a:rPr lang="fr-FR" b="0" i="1" smtClean="0">
                            <a:latin typeface="Cambria Math" panose="02040503050406030204" pitchFamily="18" charset="0"/>
                          </a:rPr>
                          <m:t>𝑙𝑒𝑠</m:t>
                        </m:r>
                        <m:r>
                          <a:rPr lang="fr-FR" b="0" i="1" smtClean="0">
                            <a:latin typeface="Cambria Math" panose="02040503050406030204" pitchFamily="18" charset="0"/>
                          </a:rPr>
                          <m:t> </m:t>
                        </m:r>
                        <m:r>
                          <a:rPr lang="fr-FR" b="0" i="1" smtClean="0">
                            <a:latin typeface="Cambria Math" panose="02040503050406030204" pitchFamily="18" charset="0"/>
                          </a:rPr>
                          <m:t>𝑝𝑎𝑛𝑛𝑒𝑠</m:t>
                        </m:r>
                      </m:num>
                      <m:den>
                        <m:r>
                          <a:rPr lang="fr-FR" b="0" i="1" smtClean="0">
                            <a:latin typeface="Cambria Math" panose="02040503050406030204" pitchFamily="18" charset="0"/>
                          </a:rPr>
                          <m:t>𝐷𝑢𝑟</m:t>
                        </m:r>
                        <m:r>
                          <a:rPr lang="fr-FR" b="0" i="1" smtClean="0">
                            <a:latin typeface="Cambria Math" panose="02040503050406030204" pitchFamily="18" charset="0"/>
                          </a:rPr>
                          <m:t>é</m:t>
                        </m:r>
                        <m:r>
                          <a:rPr lang="fr-FR" b="0" i="1" smtClean="0">
                            <a:latin typeface="Cambria Math" panose="02040503050406030204" pitchFamily="18" charset="0"/>
                          </a:rPr>
                          <m:t>𝑒</m:t>
                        </m:r>
                        <m:r>
                          <a:rPr lang="fr-FR" b="0" i="1" smtClean="0">
                            <a:latin typeface="Cambria Math" panose="02040503050406030204" pitchFamily="18" charset="0"/>
                          </a:rPr>
                          <m:t> </m:t>
                        </m:r>
                        <m:r>
                          <a:rPr lang="fr-FR" b="0" i="1" smtClean="0">
                            <a:latin typeface="Cambria Math" panose="02040503050406030204" pitchFamily="18" charset="0"/>
                          </a:rPr>
                          <m:t>𝑚𝑜𝑦𝑒𝑛𝑛𝑒</m:t>
                        </m:r>
                        <m:r>
                          <a:rPr lang="fr-FR" b="0" i="1" smtClean="0">
                            <a:latin typeface="Cambria Math" panose="02040503050406030204" pitchFamily="18" charset="0"/>
                          </a:rPr>
                          <m:t> </m:t>
                        </m:r>
                        <m:r>
                          <a:rPr lang="fr-FR" b="0" i="1" smtClean="0">
                            <a:latin typeface="Cambria Math" panose="02040503050406030204" pitchFamily="18" charset="0"/>
                          </a:rPr>
                          <m:t>𝑑𝑒</m:t>
                        </m:r>
                        <m:r>
                          <a:rPr lang="fr-FR" b="0" i="1" smtClean="0">
                            <a:latin typeface="Cambria Math" panose="02040503050406030204" pitchFamily="18" charset="0"/>
                          </a:rPr>
                          <m:t> </m:t>
                        </m:r>
                        <m:r>
                          <a:rPr lang="fr-FR" b="0" i="1" smtClean="0">
                            <a:latin typeface="Cambria Math" panose="02040503050406030204" pitchFamily="18" charset="0"/>
                          </a:rPr>
                          <m:t>𝑟</m:t>
                        </m:r>
                        <m:r>
                          <a:rPr lang="fr-FR" b="0" i="1" smtClean="0">
                            <a:latin typeface="Cambria Math" panose="02040503050406030204" pitchFamily="18" charset="0"/>
                          </a:rPr>
                          <m:t>é</m:t>
                        </m:r>
                        <m:r>
                          <a:rPr lang="fr-FR" b="0" i="1" smtClean="0">
                            <a:latin typeface="Cambria Math" panose="02040503050406030204" pitchFamily="18" charset="0"/>
                          </a:rPr>
                          <m:t>𝑝𝑎𝑟𝑎𝑡𝑖𝑜𝑛𝑠</m:t>
                        </m:r>
                        <m:r>
                          <a:rPr lang="fr-FR" b="0" i="1" smtClean="0">
                            <a:latin typeface="Cambria Math" panose="02040503050406030204" pitchFamily="18" charset="0"/>
                          </a:rPr>
                          <m:t>+</m:t>
                        </m:r>
                        <m:r>
                          <a:rPr lang="fr-FR" b="0" i="1" smtClean="0">
                            <a:latin typeface="Cambria Math" panose="02040503050406030204" pitchFamily="18" charset="0"/>
                          </a:rPr>
                          <m:t>𝑡𝑒𝑚𝑝𝑠</m:t>
                        </m:r>
                        <m:r>
                          <a:rPr lang="fr-FR" b="0" i="1" smtClean="0">
                            <a:latin typeface="Cambria Math" panose="02040503050406030204" pitchFamily="18" charset="0"/>
                          </a:rPr>
                          <m:t> </m:t>
                        </m:r>
                        <m:r>
                          <a:rPr lang="fr-FR" b="0" i="1" smtClean="0">
                            <a:latin typeface="Cambria Math" panose="02040503050406030204" pitchFamily="18" charset="0"/>
                          </a:rPr>
                          <m:t>𝑚𝑜𝑦𝑒𝑛</m:t>
                        </m:r>
                        <m:r>
                          <a:rPr lang="fr-FR" b="0" i="1" smtClean="0">
                            <a:latin typeface="Cambria Math" panose="02040503050406030204" pitchFamily="18" charset="0"/>
                          </a:rPr>
                          <m:t> </m:t>
                        </m:r>
                        <m:r>
                          <a:rPr lang="fr-FR" b="0" i="1" smtClean="0">
                            <a:latin typeface="Cambria Math" panose="02040503050406030204" pitchFamily="18" charset="0"/>
                          </a:rPr>
                          <m:t>𝑒𝑛𝑡𝑟𝑒</m:t>
                        </m:r>
                        <m:r>
                          <a:rPr lang="fr-FR" b="0" i="1" smtClean="0">
                            <a:latin typeface="Cambria Math" panose="02040503050406030204" pitchFamily="18" charset="0"/>
                          </a:rPr>
                          <m:t> </m:t>
                        </m:r>
                        <m:r>
                          <a:rPr lang="fr-FR" b="0" i="1" smtClean="0">
                            <a:latin typeface="Cambria Math" panose="02040503050406030204" pitchFamily="18" charset="0"/>
                          </a:rPr>
                          <m:t>𝑙𝑒𝑠</m:t>
                        </m:r>
                        <m:r>
                          <a:rPr lang="fr-FR" b="0" i="1" smtClean="0">
                            <a:latin typeface="Cambria Math" panose="02040503050406030204" pitchFamily="18" charset="0"/>
                          </a:rPr>
                          <m:t> </m:t>
                        </m:r>
                        <m:r>
                          <a:rPr lang="fr-FR" b="0" i="1" smtClean="0">
                            <a:latin typeface="Cambria Math" panose="02040503050406030204" pitchFamily="18" charset="0"/>
                          </a:rPr>
                          <m:t>𝑝𝑎𝑛𝑛𝑒𝑠</m:t>
                        </m:r>
                      </m:den>
                    </m:f>
                  </m:oMath>
                </a14:m>
                <a:endParaRPr lang="fr-FR" dirty="0"/>
              </a:p>
              <a:p>
                <a:pPr lvl="1"/>
                <a:endParaRPr lang="fr-FR" dirty="0"/>
              </a:p>
              <a:p>
                <a:pPr marL="457200" lvl="1" indent="0">
                  <a:buNone/>
                </a:pPr>
                <a:endParaRPr lang="fr-FR" b="1" i="1" dirty="0">
                  <a:latin typeface="Cambria Math" panose="02040503050406030204" pitchFamily="18" charset="0"/>
                </a:endParaRPr>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140527" y="1878970"/>
                <a:ext cx="9364085" cy="4218402"/>
              </a:xfrm>
              <a:blipFill rotWithShape="0">
                <a:blip r:embed="rId2"/>
                <a:stretch>
                  <a:fillRect l="-456" t="-723"/>
                </a:stretch>
              </a:blipFill>
            </p:spPr>
            <p:txBody>
              <a:bodyPr/>
              <a:lstStyle/>
              <a:p>
                <a:r>
                  <a:rPr lang="fr-FR">
                    <a:noFill/>
                  </a:rPr>
                  <a:t> </a:t>
                </a:r>
              </a:p>
            </p:txBody>
          </p:sp>
        </mc:Fallback>
      </mc:AlternateContent>
      <p:sp>
        <p:nvSpPr>
          <p:cNvPr id="5" name="Espace réservé du numéro de diapositive 4"/>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1" name="Image 10"/>
          <p:cNvPicPr>
            <a:picLocks noChangeAspect="1"/>
          </p:cNvPicPr>
          <p:nvPr/>
        </p:nvPicPr>
        <p:blipFill>
          <a:blip r:embed="rId5"/>
          <a:stretch>
            <a:fillRect/>
          </a:stretch>
        </p:blipFill>
        <p:spPr>
          <a:xfrm>
            <a:off x="4991966" y="598080"/>
            <a:ext cx="5486400" cy="1219200"/>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168941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FMD</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2140527" y="1878970"/>
                <a:ext cx="9364085" cy="4218402"/>
              </a:xfrm>
            </p:spPr>
            <p:txBody>
              <a:bodyPr>
                <a:normAutofit/>
              </a:bodyPr>
              <a:lstStyle/>
              <a:p>
                <a:r>
                  <a:rPr lang="fr-FR" dirty="0"/>
                  <a:t>L’abréviation « FMD » désigne le trio </a:t>
                </a:r>
                <a:r>
                  <a:rPr lang="fr-FR" b="1" dirty="0"/>
                  <a:t>F</a:t>
                </a:r>
                <a:r>
                  <a:rPr lang="fr-FR" dirty="0"/>
                  <a:t>iabilité, </a:t>
                </a:r>
                <a:r>
                  <a:rPr lang="fr-FR" b="1" dirty="0"/>
                  <a:t>M</a:t>
                </a:r>
                <a:r>
                  <a:rPr lang="fr-FR" dirty="0"/>
                  <a:t>aintenabilité, </a:t>
                </a:r>
                <a:r>
                  <a:rPr lang="fr-FR" b="1" dirty="0"/>
                  <a:t>D</a:t>
                </a:r>
                <a:r>
                  <a:rPr lang="fr-FR" dirty="0"/>
                  <a:t>isponibilité, avec : </a:t>
                </a:r>
              </a:p>
              <a:p>
                <a:endParaRPr lang="fr-FR" dirty="0"/>
              </a:p>
              <a:p>
                <a:pPr lvl="1"/>
                <a14:m>
                  <m:oMath xmlns:m="http://schemas.openxmlformats.org/officeDocument/2006/math">
                    <m:r>
                      <a:rPr lang="fr-FR" b="0" i="1" smtClean="0">
                        <a:latin typeface="Cambria Math" panose="02040503050406030204" pitchFamily="18" charset="0"/>
                      </a:rPr>
                      <m:t>𝐹𝑖𝑎𝑏𝑖𝑙𝑖𝑡</m:t>
                    </m:r>
                    <m:r>
                      <a:rPr lang="fr-FR" b="0" i="1" smtClean="0">
                        <a:latin typeface="Cambria Math" panose="02040503050406030204" pitchFamily="18" charset="0"/>
                      </a:rPr>
                      <m:t>é= </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𝑀𝑇𝐵𝐹</m:t>
                        </m:r>
                      </m:den>
                    </m:f>
                  </m:oMath>
                </a14:m>
                <a:endParaRPr lang="fr-FR" dirty="0"/>
              </a:p>
              <a:p>
                <a:pPr lvl="1"/>
                <a:endParaRPr lang="fr-FR" dirty="0"/>
              </a:p>
              <a:p>
                <a:pPr lvl="1"/>
                <a14:m>
                  <m:oMath xmlns:m="http://schemas.openxmlformats.org/officeDocument/2006/math">
                    <m:r>
                      <a:rPr lang="fr-FR" b="0" i="1" smtClean="0">
                        <a:latin typeface="Cambria Math" panose="02040503050406030204" pitchFamily="18" charset="0"/>
                      </a:rPr>
                      <m:t>𝑀𝑎𝑖𝑛𝑡𝑒𝑛𝑎𝑏𝑖𝑙𝑖𝑡</m:t>
                    </m:r>
                    <m:r>
                      <a:rPr lang="fr-FR" b="0" i="1" smtClean="0">
                        <a:latin typeface="Cambria Math" panose="02040503050406030204" pitchFamily="18" charset="0"/>
                      </a:rPr>
                      <m:t>é=</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𝑀𝑇𝑇𝑅</m:t>
                        </m:r>
                      </m:den>
                    </m:f>
                  </m:oMath>
                </a14:m>
                <a:endParaRPr lang="fr-FR" dirty="0"/>
              </a:p>
              <a:p>
                <a:pPr lvl="1"/>
                <a:endParaRPr lang="fr-FR" dirty="0"/>
              </a:p>
              <a:p>
                <a:pPr lvl="1"/>
                <a14:m>
                  <m:oMath xmlns:m="http://schemas.openxmlformats.org/officeDocument/2006/math">
                    <m:r>
                      <a:rPr lang="fr-FR" b="0" i="1" smtClean="0">
                        <a:latin typeface="Cambria Math" panose="02040503050406030204" pitchFamily="18" charset="0"/>
                      </a:rPr>
                      <m:t>𝐷𝑖𝑠𝑝𝑜𝑛𝑖𝑏𝑖𝑙𝑖𝑡</m:t>
                    </m:r>
                    <m:r>
                      <a:rPr lang="fr-FR" b="0" i="1" smtClean="0">
                        <a:latin typeface="Cambria Math" panose="02040503050406030204" pitchFamily="18" charset="0"/>
                      </a:rPr>
                      <m:t>é= </m:t>
                    </m:r>
                    <m:f>
                      <m:fPr>
                        <m:ctrlPr>
                          <a:rPr lang="fr-FR" b="0" i="1" smtClean="0">
                            <a:latin typeface="Cambria Math" panose="02040503050406030204" pitchFamily="18" charset="0"/>
                          </a:rPr>
                        </m:ctrlPr>
                      </m:fPr>
                      <m:num>
                        <m:r>
                          <a:rPr lang="fr-FR" b="0" i="1" smtClean="0">
                            <a:latin typeface="Cambria Math" panose="02040503050406030204" pitchFamily="18" charset="0"/>
                          </a:rPr>
                          <m:t>𝑀𝑇𝐵𝐹</m:t>
                        </m:r>
                      </m:num>
                      <m:den>
                        <m:r>
                          <a:rPr lang="fr-FR" b="0" i="1" smtClean="0">
                            <a:latin typeface="Cambria Math" panose="02040503050406030204" pitchFamily="18" charset="0"/>
                          </a:rPr>
                          <m:t>(</m:t>
                        </m:r>
                        <m:r>
                          <a:rPr lang="fr-FR" b="0" i="1" smtClean="0">
                            <a:latin typeface="Cambria Math" panose="02040503050406030204" pitchFamily="18" charset="0"/>
                          </a:rPr>
                          <m:t>𝑀𝑇𝑇𝑅</m:t>
                        </m:r>
                        <m:r>
                          <a:rPr lang="fr-FR" b="0" i="1" smtClean="0">
                            <a:latin typeface="Cambria Math" panose="02040503050406030204" pitchFamily="18" charset="0"/>
                          </a:rPr>
                          <m:t> + </m:t>
                        </m:r>
                        <m:r>
                          <a:rPr lang="fr-FR" b="0" i="1" smtClean="0">
                            <a:latin typeface="Cambria Math" panose="02040503050406030204" pitchFamily="18" charset="0"/>
                          </a:rPr>
                          <m:t>𝑀𝑇𝐵𝐹</m:t>
                        </m:r>
                        <m:r>
                          <a:rPr lang="fr-FR" b="0" i="1" smtClean="0">
                            <a:latin typeface="Cambria Math" panose="02040503050406030204" pitchFamily="18" charset="0"/>
                          </a:rPr>
                          <m:t>)</m:t>
                        </m:r>
                      </m:den>
                    </m:f>
                  </m:oMath>
                </a14:m>
                <a:endParaRPr lang="fr-FR" dirty="0"/>
              </a:p>
              <a:p>
                <a:pPr marL="457200" lvl="1" indent="0">
                  <a:buNone/>
                </a:pPr>
                <a:endParaRPr lang="fr-FR" b="1" i="1" dirty="0">
                  <a:latin typeface="Cambria Math" panose="02040503050406030204" pitchFamily="18" charset="0"/>
                </a:endParaRPr>
              </a:p>
              <a:p>
                <a:pPr marL="457200" lvl="1" indent="0">
                  <a:buNone/>
                </a:pPr>
                <a:r>
                  <a:rPr lang="fr-FR" b="1" i="1" dirty="0">
                    <a:latin typeface="Cambria Math" panose="02040503050406030204" pitchFamily="18" charset="0"/>
                  </a:rPr>
                  <a:t>Ces indicateurs permettent de classer les machines selon leurs valeurs et de décider d’une politique ou des priorités d’action circonstancielles.</a:t>
                </a:r>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2140527" y="1878970"/>
                <a:ext cx="9364085" cy="4218402"/>
              </a:xfrm>
              <a:blipFill rotWithShape="0">
                <a:blip r:embed="rId2"/>
                <a:stretch>
                  <a:fillRect l="-456" t="-723" r="-1107"/>
                </a:stretch>
              </a:blipFill>
            </p:spPr>
            <p:txBody>
              <a:bodyPr/>
              <a:lstStyle/>
              <a:p>
                <a:r>
                  <a:rPr lang="fr-FR">
                    <a:noFill/>
                  </a:rPr>
                  <a:t> </a:t>
                </a:r>
              </a:p>
            </p:txBody>
          </p:sp>
        </mc:Fallback>
      </mc:AlternateContent>
      <p:sp>
        <p:nvSpPr>
          <p:cNvPr id="5" name="Espace réservé du numéro de diapositive 4"/>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9" name="Image 8"/>
          <p:cNvPicPr>
            <a:picLocks noChangeAspect="1"/>
          </p:cNvPicPr>
          <p:nvPr/>
        </p:nvPicPr>
        <p:blipFill>
          <a:blip r:embed="rId5"/>
          <a:stretch>
            <a:fillRect/>
          </a:stretch>
        </p:blipFill>
        <p:spPr>
          <a:xfrm>
            <a:off x="6667164" y="2690715"/>
            <a:ext cx="5267325" cy="1943100"/>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200820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Définition simple : Datacenter</a:t>
            </a:r>
          </a:p>
        </p:txBody>
      </p:sp>
      <p:sp>
        <p:nvSpPr>
          <p:cNvPr id="3" name="Espace réservé du contenu 2"/>
          <p:cNvSpPr>
            <a:spLocks noGrp="1"/>
          </p:cNvSpPr>
          <p:nvPr>
            <p:ph idx="1"/>
          </p:nvPr>
        </p:nvSpPr>
        <p:spPr>
          <a:xfrm>
            <a:off x="2140527" y="1350818"/>
            <a:ext cx="9364085" cy="4560404"/>
          </a:xfrm>
        </p:spPr>
        <p:txBody>
          <a:bodyPr>
            <a:normAutofit/>
          </a:bodyPr>
          <a:lstStyle/>
          <a:p>
            <a:r>
              <a:rPr lang="fr-FR" dirty="0"/>
              <a:t>Un centre de données (en anglais data center ou data centre) est un lieu (et un service) regroupant des équipements constituants du système d’information d'une ou plusieurs entreprise(s) (ordinateurs centraux, serveurs, baies de stockage, équipements réseaux et de télécommunications, etc.). </a:t>
            </a:r>
          </a:p>
          <a:p>
            <a:r>
              <a:rPr lang="fr-FR" dirty="0"/>
              <a:t>Il peut être interne et/ou externe à l’entreprise, exploité ou non avec le soutien de prestataires. </a:t>
            </a:r>
          </a:p>
          <a:p>
            <a:r>
              <a:rPr lang="fr-FR" dirty="0"/>
              <a:t>Il remplit une mission critique relative à l'informatique et à la télématique en environnement contrôlé (climatisation) et sécurité (système anti-incendie, contre le vol et l'intrusion, etc.), avec une alimentation d'urgence et redondante. </a:t>
            </a:r>
            <a:endParaRPr lang="fr-FR"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2" name="Image 11"/>
          <p:cNvPicPr>
            <a:picLocks noChangeAspect="1"/>
          </p:cNvPicPr>
          <p:nvPr/>
        </p:nvPicPr>
        <p:blipFill>
          <a:blip r:embed="rId4"/>
          <a:stretch>
            <a:fillRect/>
          </a:stretch>
        </p:blipFill>
        <p:spPr>
          <a:xfrm>
            <a:off x="1244716" y="4466301"/>
            <a:ext cx="3028950" cy="1514475"/>
          </a:xfrm>
          <a:prstGeom prst="rect">
            <a:avLst/>
          </a:prstGeom>
        </p:spPr>
      </p:pic>
      <p:pic>
        <p:nvPicPr>
          <p:cNvPr id="13" name="Image 12"/>
          <p:cNvPicPr>
            <a:picLocks noChangeAspect="1"/>
          </p:cNvPicPr>
          <p:nvPr/>
        </p:nvPicPr>
        <p:blipFill>
          <a:blip r:embed="rId5"/>
          <a:stretch>
            <a:fillRect/>
          </a:stretch>
        </p:blipFill>
        <p:spPr>
          <a:xfrm>
            <a:off x="4833599" y="4465473"/>
            <a:ext cx="3055540" cy="2035460"/>
          </a:xfrm>
          <a:prstGeom prst="rect">
            <a:avLst/>
          </a:prstGeom>
        </p:spPr>
      </p:pic>
      <p:pic>
        <p:nvPicPr>
          <p:cNvPr id="14" name="Image 13"/>
          <p:cNvPicPr>
            <a:picLocks noChangeAspect="1"/>
          </p:cNvPicPr>
          <p:nvPr/>
        </p:nvPicPr>
        <p:blipFill>
          <a:blip r:embed="rId6"/>
          <a:stretch>
            <a:fillRect/>
          </a:stretch>
        </p:blipFill>
        <p:spPr>
          <a:xfrm>
            <a:off x="8596587" y="4465473"/>
            <a:ext cx="2376213" cy="1605549"/>
          </a:xfrm>
          <a:prstGeom prst="rect">
            <a:avLst/>
          </a:prstGeom>
        </p:spPr>
      </p:pic>
      <p:sp>
        <p:nvSpPr>
          <p:cNvPr id="15"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1518838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Composantes d’un </a:t>
            </a:r>
            <a:r>
              <a:rPr lang="fr-FR" dirty="0" err="1"/>
              <a:t>datacenter</a:t>
            </a:r>
            <a:endParaRPr lang="fr-FR" dirty="0"/>
          </a:p>
        </p:txBody>
      </p:sp>
      <p:sp>
        <p:nvSpPr>
          <p:cNvPr id="3" name="Espace réservé du contenu 2"/>
          <p:cNvSpPr>
            <a:spLocks noGrp="1"/>
          </p:cNvSpPr>
          <p:nvPr>
            <p:ph idx="1"/>
          </p:nvPr>
        </p:nvSpPr>
        <p:spPr>
          <a:xfrm>
            <a:off x="2140527" y="1350818"/>
            <a:ext cx="9364085" cy="4784990"/>
          </a:xfrm>
        </p:spPr>
        <p:txBody>
          <a:bodyPr>
            <a:normAutofit fontScale="77500" lnSpcReduction="20000"/>
          </a:bodyPr>
          <a:lstStyle/>
          <a:p>
            <a:r>
              <a:rPr lang="fr-FR" dirty="0"/>
              <a:t>Elles doivent pour chaque centre assurer la bonne connexion réseau (internet, intranet, etc.) et une haute disponibilité du système d'information. </a:t>
            </a:r>
          </a:p>
          <a:p>
            <a:r>
              <a:rPr lang="fr-FR" dirty="0"/>
              <a:t>Pour cela, des applications logicielles gèrent les tâches essentielles de l'« activité métier » des clients. </a:t>
            </a:r>
          </a:p>
          <a:p>
            <a:pPr marL="0" indent="0">
              <a:buNone/>
            </a:pPr>
            <a:r>
              <a:rPr lang="fr-FR" b="1" dirty="0"/>
              <a:t>Composantes physiques habituellement présentes : </a:t>
            </a:r>
          </a:p>
          <a:p>
            <a:r>
              <a:rPr lang="fr-FR" sz="1400" dirty="0"/>
              <a:t>Climatisation (précise et stable)</a:t>
            </a:r>
          </a:p>
          <a:p>
            <a:r>
              <a:rPr lang="fr-FR" sz="1400" dirty="0"/>
              <a:t>Contrôle de la poussière (filtration de l'air)</a:t>
            </a:r>
          </a:p>
          <a:p>
            <a:r>
              <a:rPr lang="fr-FR" sz="1400" dirty="0"/>
              <a:t>Unité de distribution de l'énergie</a:t>
            </a:r>
          </a:p>
          <a:p>
            <a:r>
              <a:rPr lang="fr-FR" sz="1400" dirty="0"/>
              <a:t>Bloc d'alimentation d'urgence, et une unité de secours (Générateur, UPS)</a:t>
            </a:r>
          </a:p>
          <a:p>
            <a:r>
              <a:rPr lang="fr-FR" sz="1400" dirty="0"/>
              <a:t>Système perfectionné d'alerte d'incendie</a:t>
            </a:r>
          </a:p>
          <a:p>
            <a:r>
              <a:rPr lang="fr-FR" sz="1400" dirty="0"/>
              <a:t>Extinction automatique des incendies (par </a:t>
            </a:r>
            <a:r>
              <a:rPr lang="fr-FR" sz="1400" dirty="0" err="1"/>
              <a:t>micro-gouttelettes</a:t>
            </a:r>
            <a:r>
              <a:rPr lang="fr-FR" sz="1400" dirty="0"/>
              <a:t> ou gaz inerte)</a:t>
            </a:r>
          </a:p>
          <a:p>
            <a:r>
              <a:rPr lang="fr-FR" sz="1400" dirty="0"/>
              <a:t>Plancher surélevé</a:t>
            </a:r>
          </a:p>
          <a:p>
            <a:r>
              <a:rPr lang="fr-FR" sz="1400" dirty="0"/>
              <a:t>Conduites pour câbles au-dessus et au-dessous du plancher</a:t>
            </a:r>
          </a:p>
          <a:p>
            <a:r>
              <a:rPr lang="fr-FR" sz="1400" dirty="0"/>
              <a:t>Surveillance par caméras en circuit fermé</a:t>
            </a:r>
          </a:p>
          <a:p>
            <a:r>
              <a:rPr lang="fr-FR" sz="1400" dirty="0"/>
              <a:t>Contrôle des accès, ainsi que sécurité physique</a:t>
            </a:r>
          </a:p>
          <a:p>
            <a:r>
              <a:rPr lang="fr-FR" sz="1400" dirty="0"/>
              <a:t>Surveillance 24/7 des serveurs dédiés (ordinateurs)</a:t>
            </a:r>
          </a:p>
          <a:p>
            <a:r>
              <a:rPr lang="fr-FR" sz="1400" dirty="0"/>
              <a:t>Service de sécurité continuellement présent</a:t>
            </a:r>
          </a:p>
          <a:p>
            <a:r>
              <a:rPr lang="fr-FR" sz="1400" dirty="0"/>
              <a:t>Câbles de paires torsadées de cuivre en Ethernet (</a:t>
            </a:r>
            <a:r>
              <a:rPr lang="fr-FR" sz="1400" dirty="0" err="1"/>
              <a:t>Fast</a:t>
            </a:r>
            <a:r>
              <a:rPr lang="fr-FR" sz="1400" dirty="0"/>
              <a:t> ou Gigabit) pour liaisons inter-[jarretières/switches/routeurs/firewall]</a:t>
            </a:r>
          </a:p>
          <a:p>
            <a:r>
              <a:rPr lang="fr-FR" sz="1400" dirty="0"/>
              <a:t>Fibres optiques pour liaisons inter-sites ou inter-[jarretières/switches/routeurs/firewall]</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83105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Norme ANSI/TIA-942 et niveaux de disponibilité d’un </a:t>
            </a:r>
            <a:r>
              <a:rPr lang="fr-FR" dirty="0" err="1"/>
              <a:t>DataCenter</a:t>
            </a:r>
            <a:endParaRPr lang="fr-FR" dirty="0"/>
          </a:p>
        </p:txBody>
      </p:sp>
      <p:sp>
        <p:nvSpPr>
          <p:cNvPr id="3" name="Espace réservé du contenu 2"/>
          <p:cNvSpPr>
            <a:spLocks noGrp="1"/>
          </p:cNvSpPr>
          <p:nvPr>
            <p:ph idx="1"/>
          </p:nvPr>
        </p:nvSpPr>
        <p:spPr>
          <a:xfrm>
            <a:off x="2140527" y="1713470"/>
            <a:ext cx="9364085" cy="4422338"/>
          </a:xfrm>
        </p:spPr>
        <p:txBody>
          <a:bodyPr>
            <a:normAutofit/>
          </a:bodyPr>
          <a:lstStyle/>
          <a:p>
            <a:endParaRPr lang="fr-FR" sz="1400" dirty="0"/>
          </a:p>
          <a:p>
            <a:r>
              <a:rPr lang="fr-FR" sz="1400" dirty="0"/>
              <a:t>Conçu comme un guide pour les ingénieurs et les installateurs de Data Centres, le standard TIA942 (2005) nous offre toute une série de recommandations et directives (guidelines) pour l installation de leurs infrastructures. La dernière version date de mai 2022. </a:t>
            </a:r>
          </a:p>
          <a:p>
            <a:r>
              <a:rPr lang="fr-FR" sz="1400" dirty="0"/>
              <a:t>Approuvé en 2005 par ANSI-TIA (American National Standards Institute- </a:t>
            </a:r>
            <a:r>
              <a:rPr lang="fr-FR" sz="1400" dirty="0" err="1"/>
              <a:t>Telecommunications</a:t>
            </a:r>
            <a:r>
              <a:rPr lang="fr-FR" sz="1400" dirty="0"/>
              <a:t> </a:t>
            </a:r>
            <a:r>
              <a:rPr lang="fr-FR" sz="1400" dirty="0" err="1"/>
              <a:t>Industry</a:t>
            </a:r>
            <a:r>
              <a:rPr lang="fr-FR" sz="1400" dirty="0"/>
              <a:t> Association), il classe ce type de centres en plusieurs groupes, appelés </a:t>
            </a:r>
            <a:r>
              <a:rPr lang="fr-FR" sz="1400" b="1" dirty="0"/>
              <a:t>TIER, </a:t>
            </a:r>
            <a:r>
              <a:rPr lang="fr-FR" sz="1400" dirty="0"/>
              <a:t>qui nous indiquent le niveau de fiabilité, en fonction de la disponibilité.</a:t>
            </a:r>
          </a:p>
          <a:p>
            <a:pPr marL="0" indent="0">
              <a:buNone/>
            </a:pPr>
            <a:endParaRPr lang="fr-FR" sz="1400" b="1" dirty="0"/>
          </a:p>
          <a:p>
            <a:pPr marL="0" indent="0">
              <a:buNone/>
            </a:pPr>
            <a:r>
              <a:rPr lang="fr-FR" sz="1400" dirty="0"/>
              <a:t>Le dessin des Data Centres en conformité avec le standard, offre des avantages fondamentaux, tels que:</a:t>
            </a:r>
          </a:p>
          <a:p>
            <a:r>
              <a:rPr lang="fr-FR" sz="1400" dirty="0"/>
              <a:t>Nomenclature standard.</a:t>
            </a:r>
          </a:p>
          <a:p>
            <a:r>
              <a:rPr lang="fr-FR" sz="1400" dirty="0"/>
              <a:t>Fonctionnement à toute épreuve (zéro défauts).</a:t>
            </a:r>
          </a:p>
          <a:p>
            <a:r>
              <a:rPr lang="fr-FR" sz="1400" dirty="0"/>
              <a:t>Augmentation de la protection face aux agents externes.</a:t>
            </a:r>
          </a:p>
          <a:p>
            <a:r>
              <a:rPr lang="fr-FR" sz="1400" dirty="0"/>
              <a:t>Fiabilité à long délai, avec une augmentation des capacités de croissance.</a:t>
            </a:r>
          </a:p>
          <a:p>
            <a:pPr marL="0" indent="0">
              <a:buNone/>
            </a:pPr>
            <a:endParaRPr lang="fr-FR" sz="1400"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2024</a:t>
            </a:r>
            <a:endParaRPr lang="en-US" sz="1000" i="1" dirty="0"/>
          </a:p>
        </p:txBody>
      </p:sp>
    </p:spTree>
    <p:extLst>
      <p:ext uri="{BB962C8B-B14F-4D97-AF65-F5344CB8AC3E}">
        <p14:creationId xmlns:p14="http://schemas.microsoft.com/office/powerpoint/2010/main" val="608608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Norme ANSI/TIA-942 et niveaux de disponibilité d’un </a:t>
            </a:r>
            <a:r>
              <a:rPr lang="fr-FR" dirty="0" err="1"/>
              <a:t>DataCenter</a:t>
            </a:r>
            <a:endParaRPr lang="fr-FR" dirty="0"/>
          </a:p>
        </p:txBody>
      </p:sp>
      <p:sp>
        <p:nvSpPr>
          <p:cNvPr id="3" name="Espace réservé du contenu 2"/>
          <p:cNvSpPr>
            <a:spLocks noGrp="1"/>
          </p:cNvSpPr>
          <p:nvPr>
            <p:ph idx="1"/>
          </p:nvPr>
        </p:nvSpPr>
        <p:spPr>
          <a:xfrm>
            <a:off x="2140527" y="1713470"/>
            <a:ext cx="9364085" cy="4422338"/>
          </a:xfrm>
        </p:spPr>
        <p:txBody>
          <a:bodyPr>
            <a:normAutofit/>
          </a:bodyPr>
          <a:lstStyle/>
          <a:p>
            <a:endParaRPr lang="fr-FR" sz="1400" dirty="0"/>
          </a:p>
          <a:p>
            <a:pPr marL="0" indent="0">
              <a:buNone/>
            </a:pPr>
            <a:r>
              <a:rPr lang="fr-FR" sz="1400" b="1" dirty="0"/>
              <a:t>D´après TIA942, l´infrastructure qui supporte un Data Center est formée par quatre sous-systèmes:</a:t>
            </a:r>
          </a:p>
          <a:p>
            <a:r>
              <a:rPr lang="fr-FR" sz="1400" b="1" dirty="0"/>
              <a:t>Télécommunications:</a:t>
            </a:r>
            <a:r>
              <a:rPr lang="fr-FR" sz="1400" dirty="0"/>
              <a:t> Câblage des armoires et horizontal, accès redondants, cabinet d´entrée, aire de distribution, </a:t>
            </a:r>
            <a:r>
              <a:rPr lang="fr-FR" sz="1400" dirty="0" err="1"/>
              <a:t>backbone</a:t>
            </a:r>
            <a:r>
              <a:rPr lang="fr-FR" sz="1400" dirty="0"/>
              <a:t>, éléments actifs et alimentation redondants, patch panels et jarretières, documentation.</a:t>
            </a:r>
          </a:p>
          <a:p>
            <a:r>
              <a:rPr lang="fr-FR" sz="1400" b="1" dirty="0"/>
              <a:t>Architecture :</a:t>
            </a:r>
            <a:r>
              <a:rPr lang="fr-FR" sz="1400" dirty="0"/>
              <a:t> Choix de l´emplacement, type de bâtiment, protection contre le feu et requêtes d´après NFPA75 (systèmes de protection de l´information contre la flamme ), barrières de vapeur, plafonds et sols , Télé surveillance, NOC ( Network Operations Center)</a:t>
            </a:r>
          </a:p>
          <a:p>
            <a:r>
              <a:rPr lang="fr-FR" sz="1400" b="1" dirty="0"/>
              <a:t>Système électrique:</a:t>
            </a:r>
            <a:r>
              <a:rPr lang="fr-FR" sz="1400" dirty="0"/>
              <a:t> Quantité d´accès, points de défaut, charges critiques, redondance et topologie des </a:t>
            </a:r>
            <a:r>
              <a:rPr lang="fr-FR" sz="1400" dirty="0" err="1"/>
              <a:t>UPs</a:t>
            </a:r>
            <a:r>
              <a:rPr lang="fr-FR" sz="1400" dirty="0"/>
              <a:t>, mise à la terre, EPO (</a:t>
            </a:r>
            <a:r>
              <a:rPr lang="fr-FR" sz="1400" dirty="0" err="1"/>
              <a:t>EmergencyPower</a:t>
            </a:r>
            <a:r>
              <a:rPr lang="fr-FR" sz="1400" dirty="0"/>
              <a:t> Off), batteries, monitorage des générateurs, systèmes de transfert.</a:t>
            </a:r>
          </a:p>
          <a:p>
            <a:r>
              <a:rPr lang="fr-FR" sz="1400" b="1" dirty="0"/>
              <a:t>Système mécanique : </a:t>
            </a:r>
            <a:r>
              <a:rPr lang="fr-FR" sz="1400" dirty="0"/>
              <a:t>Climatisation, pression positive, tubes et drainages, </a:t>
            </a:r>
            <a:r>
              <a:rPr lang="fr-FR" sz="1400" dirty="0" err="1"/>
              <a:t>CRACs</a:t>
            </a:r>
            <a:r>
              <a:rPr lang="fr-FR" sz="1400" dirty="0"/>
              <a:t> et condensateurs, contrôle du </a:t>
            </a:r>
            <a:r>
              <a:rPr lang="fr-FR" sz="1400" dirty="0" err="1"/>
              <a:t>HVACHigh</a:t>
            </a:r>
            <a:r>
              <a:rPr lang="fr-FR" sz="1400" dirty="0"/>
              <a:t> </a:t>
            </a:r>
            <a:r>
              <a:rPr lang="fr-FR" sz="1400" dirty="0" err="1"/>
              <a:t>Ventilating</a:t>
            </a:r>
            <a:r>
              <a:rPr lang="fr-FR" sz="1400" dirty="0"/>
              <a:t> Air </a:t>
            </a:r>
            <a:r>
              <a:rPr lang="fr-FR" sz="1400" dirty="0" err="1"/>
              <a:t>Conditionning</a:t>
            </a:r>
            <a:r>
              <a:rPr lang="fr-FR" sz="1400" dirty="0"/>
              <a:t>), détection du feu et sprinklers, extinction par agent propre (NFPA 2001), détection par aspiration (ASD) détection de liquides.</a:t>
            </a:r>
          </a:p>
          <a:p>
            <a:pPr marL="0" indent="0">
              <a:buNone/>
            </a:pPr>
            <a:endParaRPr lang="fr-FR" sz="1400" b="1"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521132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1280890"/>
          </a:xfrm>
        </p:spPr>
        <p:txBody>
          <a:bodyPr/>
          <a:lstStyle/>
          <a:p>
            <a:r>
              <a:rPr lang="fr-FR" dirty="0"/>
              <a:t>Norme ANSI/TIA-942 et niveaux de disponibilité d’un </a:t>
            </a:r>
            <a:r>
              <a:rPr lang="fr-FR" dirty="0" err="1"/>
              <a:t>DataCenter</a:t>
            </a:r>
            <a:endParaRPr lang="fr-FR" dirty="0"/>
          </a:p>
        </p:txBody>
      </p:sp>
      <p:sp>
        <p:nvSpPr>
          <p:cNvPr id="3" name="Espace réservé du contenu 2"/>
          <p:cNvSpPr>
            <a:spLocks noGrp="1"/>
          </p:cNvSpPr>
          <p:nvPr>
            <p:ph idx="1"/>
          </p:nvPr>
        </p:nvSpPr>
        <p:spPr>
          <a:xfrm>
            <a:off x="2140527" y="1713470"/>
            <a:ext cx="9364085" cy="4422338"/>
          </a:xfrm>
        </p:spPr>
        <p:txBody>
          <a:bodyPr>
            <a:normAutofit/>
          </a:bodyPr>
          <a:lstStyle/>
          <a:p>
            <a:endParaRPr lang="fr-FR" sz="1400" dirty="0"/>
          </a:p>
          <a:p>
            <a:pPr marL="0" indent="0">
              <a:buNone/>
            </a:pPr>
            <a:r>
              <a:rPr lang="fr-FR" sz="1400" b="1" dirty="0"/>
              <a:t>Ainsi de même, et d´après les indications du standard, un Datacenter doit inclure plusieurs aires fonctionnelles:</a:t>
            </a:r>
          </a:p>
          <a:p>
            <a:pPr marL="0" indent="0">
              <a:buNone/>
            </a:pPr>
            <a:endParaRPr lang="fr-FR" sz="1400" b="1" dirty="0"/>
          </a:p>
          <a:p>
            <a:r>
              <a:rPr lang="fr-FR" sz="1400" dirty="0"/>
              <a:t>Une ou plusieurs entrées au centre.</a:t>
            </a:r>
          </a:p>
          <a:p>
            <a:r>
              <a:rPr lang="fr-FR" sz="1400" dirty="0"/>
              <a:t>Aire de distribution principale (Une ou plusieurs).</a:t>
            </a:r>
          </a:p>
          <a:p>
            <a:r>
              <a:rPr lang="fr-FR" sz="1400" dirty="0"/>
              <a:t>Aire de distribution horizontale.</a:t>
            </a:r>
          </a:p>
          <a:p>
            <a:r>
              <a:rPr lang="fr-FR" sz="1400" dirty="0"/>
              <a:t>Aire des équipements de distribution.</a:t>
            </a:r>
          </a:p>
          <a:p>
            <a:r>
              <a:rPr lang="fr-FR" sz="1400" dirty="0"/>
              <a:t>Câblage horizontal et </a:t>
            </a:r>
            <a:r>
              <a:rPr lang="fr-FR" sz="1400" dirty="0" err="1"/>
              <a:t>backbone</a:t>
            </a:r>
            <a:r>
              <a:rPr lang="fr-FR" sz="1400" dirty="0"/>
              <a:t>.</a:t>
            </a:r>
          </a:p>
          <a:p>
            <a:endParaRPr lang="fr-FR" sz="1400" dirty="0"/>
          </a:p>
          <a:p>
            <a:endParaRPr lang="fr-FR" sz="14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17758" y="3405476"/>
            <a:ext cx="2857500" cy="2076450"/>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26130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Norme ANSI/TIA-942 : TIER</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dirty="0"/>
              <a:t>La fiabilité d´un Data Center nous est indiqué par l´un des quatre niveaux appelés TIER, en fonction de leur redondance. Le plus haut numéro de TIER correspond à la plus grande disponibilité, ce qui indique des couts de construction et maintenance plus importants.</a:t>
            </a:r>
          </a:p>
          <a:p>
            <a:endParaRPr lang="fr-FR" sz="14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0" name="Image 9"/>
          <p:cNvPicPr>
            <a:picLocks noChangeAspect="1"/>
          </p:cNvPicPr>
          <p:nvPr/>
        </p:nvPicPr>
        <p:blipFill>
          <a:blip r:embed="rId4"/>
          <a:stretch>
            <a:fillRect/>
          </a:stretch>
        </p:blipFill>
        <p:spPr>
          <a:xfrm>
            <a:off x="2183894" y="2984839"/>
            <a:ext cx="9277350" cy="1514475"/>
          </a:xfrm>
          <a:prstGeom prst="rect">
            <a:avLst/>
          </a:prstGeom>
        </p:spPr>
      </p:pic>
      <p:sp>
        <p:nvSpPr>
          <p:cNvPr id="11"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224529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Norme ANSI/TIA-942 : TIER I</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b="1" dirty="0"/>
              <a:t>TIER I – Niveau 1 (Basique) :</a:t>
            </a:r>
          </a:p>
          <a:p>
            <a:pPr marL="0" indent="0">
              <a:buNone/>
            </a:pPr>
            <a:endParaRPr lang="fr-FR" sz="1400" dirty="0"/>
          </a:p>
          <a:p>
            <a:r>
              <a:rPr lang="fr-FR" sz="1400" dirty="0"/>
              <a:t>Disponibilité 99,671 %</a:t>
            </a:r>
          </a:p>
          <a:p>
            <a:r>
              <a:rPr lang="fr-FR" sz="1400" dirty="0"/>
              <a:t>Sensible aux interruptions, qu´elles soient planifiées ou pas.</a:t>
            </a:r>
          </a:p>
          <a:p>
            <a:r>
              <a:rPr lang="fr-FR" sz="1400" dirty="0"/>
              <a:t>Une seule entrée de courant électrique et de distribution de la climatisation, sans composants redondants.</a:t>
            </a:r>
          </a:p>
          <a:p>
            <a:r>
              <a:rPr lang="fr-FR" sz="1400" dirty="0"/>
              <a:t>Sans exigences de sol surélevé</a:t>
            </a:r>
          </a:p>
          <a:p>
            <a:r>
              <a:rPr lang="fr-FR" sz="1400" dirty="0"/>
              <a:t>Générateur indépendant</a:t>
            </a:r>
          </a:p>
          <a:p>
            <a:r>
              <a:rPr lang="fr-FR" sz="1400" dirty="0"/>
              <a:t>Délai de mise en service: 3 mois</a:t>
            </a:r>
          </a:p>
          <a:p>
            <a:r>
              <a:rPr lang="fr-FR" sz="1400" dirty="0"/>
              <a:t>Temps d´inactivité annuel: 28,82 heures</a:t>
            </a:r>
          </a:p>
          <a:p>
            <a:r>
              <a:rPr lang="fr-FR" sz="1400" dirty="0"/>
              <a:t>Doit être fermé complètement pour la maintenance préventive</a:t>
            </a:r>
          </a:p>
          <a:p>
            <a:endParaRPr lang="fr-FR" sz="14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18</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2488269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Norme ANSI/TIA-942 : TIER II</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b="1" dirty="0"/>
              <a:t>TIER II- Niveau II (Composants redondants)</a:t>
            </a:r>
            <a:endParaRPr lang="fr-FR" sz="1400" dirty="0"/>
          </a:p>
          <a:p>
            <a:pPr marL="0" indent="0">
              <a:buNone/>
            </a:pPr>
            <a:endParaRPr lang="fr-FR" sz="1400" dirty="0"/>
          </a:p>
          <a:p>
            <a:r>
              <a:rPr lang="fr-FR" sz="1400" dirty="0"/>
              <a:t>Disponibilité 99,741 %.</a:t>
            </a:r>
          </a:p>
          <a:p>
            <a:r>
              <a:rPr lang="fr-FR" sz="1400" dirty="0"/>
              <a:t>Moindre sensibilité aux interruptions.</a:t>
            </a:r>
          </a:p>
          <a:p>
            <a:r>
              <a:rPr lang="fr-FR" sz="1400" dirty="0"/>
              <a:t>Une seule entrée de courant électrique et de distribution de la climatisation, avec un composant redondant.</a:t>
            </a:r>
          </a:p>
          <a:p>
            <a:r>
              <a:rPr lang="fr-FR" sz="1400" dirty="0"/>
              <a:t>Inclus sol surélevé, UPS et générateur.</a:t>
            </a:r>
          </a:p>
          <a:p>
            <a:r>
              <a:rPr lang="fr-FR" sz="1400" dirty="0"/>
              <a:t>Délai de mise en service: 3 à 6 mois.</a:t>
            </a:r>
          </a:p>
          <a:p>
            <a:r>
              <a:rPr lang="fr-FR" sz="1400" dirty="0"/>
              <a:t>Temps d´inactivité annuel: 22,0 heures.</a:t>
            </a:r>
          </a:p>
          <a:p>
            <a:r>
              <a:rPr lang="fr-FR" sz="1400" dirty="0"/>
              <a:t>La maintenance de l´alimentation et autres parts de l´infrastructure obligent à une fermeture de traitement.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2492125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Norme ANSI/TIA-942 : TIER III</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b="1" dirty="0"/>
              <a:t>TIER III- Niveau III (Maintenance concourante)</a:t>
            </a:r>
          </a:p>
          <a:p>
            <a:pPr marL="0" indent="0">
              <a:buNone/>
            </a:pPr>
            <a:endParaRPr lang="fr-FR" sz="1400" dirty="0"/>
          </a:p>
          <a:p>
            <a:endParaRPr lang="fr-FR" sz="1400" dirty="0"/>
          </a:p>
          <a:p>
            <a:r>
              <a:rPr lang="fr-FR" sz="1400" dirty="0"/>
              <a:t>Disponibilité 99,982 %.</a:t>
            </a:r>
          </a:p>
          <a:p>
            <a:r>
              <a:rPr lang="fr-FR" sz="1400" dirty="0"/>
              <a:t>Data center: Le standard TIA 942Pas d´interruption de fonctionnement pour les pauses planifiées, mais possibilité de problèmes pour les cas imprévus.</a:t>
            </a:r>
          </a:p>
          <a:p>
            <a:r>
              <a:rPr lang="fr-FR" sz="1400" dirty="0"/>
              <a:t>Accès de courant et climatisation multiples, par un seul cheminement actif. Inclus composants redondants (N+1).</a:t>
            </a:r>
          </a:p>
          <a:p>
            <a:r>
              <a:rPr lang="fr-FR" sz="1400" dirty="0"/>
              <a:t>Délai de mise en service: 15 à 20 mois.</a:t>
            </a:r>
          </a:p>
          <a:p>
            <a:r>
              <a:rPr lang="fr-FR" sz="1400" dirty="0"/>
              <a:t>Temps d´inactivité annuel: 1,6 heures.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793515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Norme ANSI/TIA-942 : TIER IV</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b="1" dirty="0"/>
              <a:t>TIER IV- Niveau IV (Tolérant aux erreurs)</a:t>
            </a:r>
            <a:endParaRPr lang="fr-FR" sz="1400" dirty="0"/>
          </a:p>
          <a:p>
            <a:endParaRPr lang="fr-FR" sz="1400" dirty="0"/>
          </a:p>
          <a:p>
            <a:endParaRPr lang="fr-FR" sz="1400" dirty="0"/>
          </a:p>
          <a:p>
            <a:r>
              <a:rPr lang="fr-FR" sz="1400" dirty="0"/>
              <a:t>Disponibilité 99,995 %.</a:t>
            </a:r>
          </a:p>
          <a:p>
            <a:r>
              <a:rPr lang="fr-FR" sz="1400" dirty="0"/>
              <a:t>Pauses planifiées : sans interruption de fonctionnement pour les data critiques. Possibilité de soutenir un défaut imprévu sans dommages critiques.</a:t>
            </a:r>
          </a:p>
          <a:p>
            <a:r>
              <a:rPr lang="fr-FR" sz="1400" dirty="0"/>
              <a:t>Accès de courant et climatisation multiples. Inclus composants redondants (2(N+1)). 2 UPS avec redondance (N+1) chacun.</a:t>
            </a:r>
          </a:p>
          <a:p>
            <a:r>
              <a:rPr lang="fr-FR" sz="1400" dirty="0"/>
              <a:t>Délai de mise en service: 15 à 20 mois.</a:t>
            </a:r>
          </a:p>
          <a:p>
            <a:r>
              <a:rPr lang="fr-FR" sz="1400" dirty="0"/>
              <a:t>Temps d´inactivité annuel: 0,4 heures.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104212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Disponibilité des serveurs</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b="1" dirty="0"/>
              <a:t>Un objectif, assurer « la Haute disponibilité » des serveurs et des services</a:t>
            </a:r>
            <a:r>
              <a:rPr lang="fr-FR" sz="1400" dirty="0"/>
              <a:t>.</a:t>
            </a:r>
          </a:p>
          <a:p>
            <a:pPr marL="0" indent="0">
              <a:buNone/>
            </a:pPr>
            <a:endParaRPr lang="fr-FR" sz="1400" dirty="0"/>
          </a:p>
          <a:p>
            <a:r>
              <a:rPr lang="fr-FR" sz="1400" dirty="0"/>
              <a:t>On définit la haute disponibilité comme un système permettant d'assurer une continuité opérationnelle d'un service sur une période donnée. Pour mesurer la disponibilité, on utilise une échelle qui est composée de 9 échelons. Un service Hautement Disponible est 99% disponible soit moins de 3,65 jours par an.</a:t>
            </a:r>
          </a:p>
          <a:p>
            <a:r>
              <a:rPr lang="fr-FR" sz="1400" dirty="0"/>
              <a:t>Les 9 échelons sont : </a:t>
            </a:r>
          </a:p>
          <a:p>
            <a:pPr lvl="1"/>
            <a:r>
              <a:rPr lang="fr-FR" sz="1200" b="1" dirty="0"/>
              <a:t>Redondance des matériels</a:t>
            </a:r>
          </a:p>
          <a:p>
            <a:pPr lvl="1"/>
            <a:r>
              <a:rPr lang="fr-FR" sz="1200" b="1" dirty="0"/>
              <a:t>Maintien des applications et mises à jour des logiciels</a:t>
            </a:r>
          </a:p>
          <a:p>
            <a:pPr lvl="1"/>
            <a:r>
              <a:rPr lang="fr-FR" sz="1200" b="1" dirty="0"/>
              <a:t>Reprise sur incident au cœur du dispositif </a:t>
            </a:r>
          </a:p>
          <a:p>
            <a:pPr lvl="1"/>
            <a:r>
              <a:rPr lang="fr-FR" sz="1200" b="1" dirty="0"/>
              <a:t>Disponibilité d'internet</a:t>
            </a:r>
          </a:p>
          <a:p>
            <a:pPr lvl="1"/>
            <a:r>
              <a:rPr lang="fr-FR" sz="1200" b="1" dirty="0"/>
              <a:t>Disponibilité réseau</a:t>
            </a:r>
          </a:p>
          <a:p>
            <a:pPr lvl="1"/>
            <a:r>
              <a:rPr lang="fr-FR" sz="1200" b="1" dirty="0"/>
              <a:t>Plans de secours</a:t>
            </a:r>
          </a:p>
          <a:p>
            <a:pPr lvl="1"/>
            <a:r>
              <a:rPr lang="fr-FR" sz="1200" b="1" dirty="0"/>
              <a:t>SLA pour les prestataires (GTR)</a:t>
            </a:r>
          </a:p>
          <a:p>
            <a:pPr lvl="1"/>
            <a:r>
              <a:rPr lang="fr-FR" sz="1200" b="1" dirty="0"/>
              <a:t>Disponibilité du débit</a:t>
            </a:r>
          </a:p>
          <a:p>
            <a:pPr lvl="1"/>
            <a:endParaRPr lang="fr-FR" sz="1200" b="1" dirty="0"/>
          </a:p>
          <a:p>
            <a:pPr lvl="1"/>
            <a:endParaRPr lang="fr-FR" sz="12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004342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lstStyle/>
          <a:p>
            <a:r>
              <a:rPr lang="fr-FR" dirty="0"/>
              <a:t>Disponibilité des serveurs : stockage local</a:t>
            </a:r>
          </a:p>
        </p:txBody>
      </p:sp>
      <p:sp>
        <p:nvSpPr>
          <p:cNvPr id="3" name="Espace réservé du contenu 2"/>
          <p:cNvSpPr>
            <a:spLocks noGrp="1"/>
          </p:cNvSpPr>
          <p:nvPr>
            <p:ph idx="1"/>
          </p:nvPr>
        </p:nvSpPr>
        <p:spPr>
          <a:xfrm>
            <a:off x="2140527" y="1227438"/>
            <a:ext cx="9364085" cy="4908370"/>
          </a:xfrm>
        </p:spPr>
        <p:txBody>
          <a:bodyPr>
            <a:normAutofit/>
          </a:bodyPr>
          <a:lstStyle/>
          <a:p>
            <a:endParaRPr lang="fr-FR" sz="1400" dirty="0"/>
          </a:p>
          <a:p>
            <a:pPr marL="0" indent="0">
              <a:buNone/>
            </a:pPr>
            <a:r>
              <a:rPr lang="fr-FR" sz="1400" dirty="0"/>
              <a:t>Un objectif, assurer « la Haute disponibilité  » et la tolérance de panne sur les stockages locaux.</a:t>
            </a:r>
            <a:endParaRPr lang="fr-FR" sz="1400" b="1" dirty="0"/>
          </a:p>
          <a:p>
            <a:pPr marL="0" indent="0">
              <a:buNone/>
            </a:pPr>
            <a:r>
              <a:rPr lang="fr-FR" sz="1400" b="1" dirty="0"/>
              <a:t>Solution : </a:t>
            </a:r>
          </a:p>
          <a:p>
            <a:r>
              <a:rPr lang="fr-FR" sz="1400" dirty="0"/>
              <a:t>RAID</a:t>
            </a:r>
          </a:p>
          <a:p>
            <a:r>
              <a:rPr lang="fr-FR" sz="1400" dirty="0"/>
              <a:t>Volumes logiques</a:t>
            </a:r>
            <a:endParaRPr lang="fr-FR" sz="1200" dirty="0"/>
          </a:p>
          <a:p>
            <a:endParaRPr lang="fr-FR" sz="1200" dirty="0"/>
          </a:p>
          <a:p>
            <a:pPr marL="0" indent="0">
              <a:buNone/>
            </a:pPr>
            <a:r>
              <a:rPr lang="fr-FR" sz="1200" b="1" u="sng" dirty="0"/>
              <a:t>RAID : </a:t>
            </a:r>
          </a:p>
          <a:p>
            <a:pPr marL="0" indent="0">
              <a:buNone/>
            </a:pPr>
            <a:r>
              <a:rPr lang="fr-FR" sz="1200" dirty="0"/>
              <a:t>Le RAID est un ensemble de techniques de virtualisation du stockage permettant de répartir des données sur plusieurs disques durs afin d'améliorer soit les performances, soit la sécurité ou la tolérance aux pannes de l'ensemble du ou des systèmes. </a:t>
            </a:r>
          </a:p>
          <a:p>
            <a:pPr marL="0" indent="0">
              <a:buNone/>
            </a:pPr>
            <a:endParaRPr lang="fr-FR" sz="1200" dirty="0"/>
          </a:p>
          <a:p>
            <a:pPr marL="0" indent="0">
              <a:buNone/>
            </a:pPr>
            <a:r>
              <a:rPr lang="fr-FR" sz="1200" b="1" u="sng" dirty="0"/>
              <a:t>Volumes logiques :</a:t>
            </a:r>
          </a:p>
          <a:p>
            <a:pPr marL="0" indent="0">
              <a:buNone/>
            </a:pPr>
            <a:r>
              <a:rPr lang="fr-FR" sz="1200" dirty="0"/>
              <a:t>La gestion par volumes logiques (en anglais, </a:t>
            </a:r>
            <a:r>
              <a:rPr lang="fr-FR" sz="1200" dirty="0" err="1"/>
              <a:t>logical</a:t>
            </a:r>
            <a:r>
              <a:rPr lang="fr-FR" sz="1200" dirty="0"/>
              <a:t> volume management ou LVM) est à la fois une méthode et un logiciel de gestion de l'utilisation des espaces de stockage d'un ordinateur. Il permet de gérer, sécuriser et optimiser de manière souple les espaces de stockage en ligne dans les systèmes d'exploitation de type UNIX.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23</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5556" y="1820618"/>
            <a:ext cx="2512750" cy="1861005"/>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7711" y="5310108"/>
            <a:ext cx="1124229" cy="1297973"/>
          </a:xfrm>
          <a:prstGeom prst="rect">
            <a:avLst/>
          </a:prstGeom>
        </p:spPr>
      </p:pic>
      <p:sp>
        <p:nvSpPr>
          <p:cNvPr id="13"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00497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fontScale="90000"/>
          </a:bodyPr>
          <a:lstStyle/>
          <a:p>
            <a:r>
              <a:rPr lang="fr-FR" dirty="0"/>
              <a:t>Disponibilité des serveurs : Virtualisation du stockage</a:t>
            </a:r>
          </a:p>
        </p:txBody>
      </p:sp>
      <p:sp>
        <p:nvSpPr>
          <p:cNvPr id="3" name="Espace réservé du contenu 2"/>
          <p:cNvSpPr>
            <a:spLocks noGrp="1"/>
          </p:cNvSpPr>
          <p:nvPr>
            <p:ph idx="1"/>
          </p:nvPr>
        </p:nvSpPr>
        <p:spPr>
          <a:xfrm>
            <a:off x="2140527" y="1227438"/>
            <a:ext cx="9364085" cy="4908370"/>
          </a:xfrm>
        </p:spPr>
        <p:txBody>
          <a:bodyPr>
            <a:normAutofit fontScale="92500" lnSpcReduction="10000"/>
          </a:bodyPr>
          <a:lstStyle/>
          <a:p>
            <a:endParaRPr lang="fr-FR" sz="1400" dirty="0"/>
          </a:p>
          <a:p>
            <a:pPr marL="0" indent="0">
              <a:buNone/>
            </a:pPr>
            <a:endParaRPr lang="fr-FR" sz="1400" dirty="0"/>
          </a:p>
          <a:p>
            <a:pPr marL="0" indent="0">
              <a:buNone/>
            </a:pPr>
            <a:r>
              <a:rPr lang="fr-FR" sz="1400" dirty="0"/>
              <a:t>Pour faire face à la complexité des architectures distribuées de l'informatique en réseau, le stockage et la sauvegarde des données s'apprêtent à emprunter cette " voie naturelle de communication ". Résultats : plus de souplesse, moins de dépenses liées à l'administration des données, mais plus de difficultés liées à des technologies encore peu matures. </a:t>
            </a:r>
          </a:p>
          <a:p>
            <a:pPr marL="0" indent="0">
              <a:buNone/>
            </a:pPr>
            <a:endParaRPr lang="fr-FR" sz="1400" dirty="0"/>
          </a:p>
          <a:p>
            <a:pPr marL="0" indent="0">
              <a:buNone/>
            </a:pPr>
            <a:r>
              <a:rPr lang="fr-FR" sz="1400" b="1" dirty="0"/>
              <a:t>Les solutions principalement cités pour la virtualisation du stockage : </a:t>
            </a:r>
          </a:p>
          <a:p>
            <a:r>
              <a:rPr lang="en-US" sz="1200" dirty="0"/>
              <a:t>Les </a:t>
            </a:r>
            <a:r>
              <a:rPr lang="en-US" sz="1200" dirty="0" err="1"/>
              <a:t>réseaux</a:t>
            </a:r>
            <a:r>
              <a:rPr lang="en-US" sz="1200" dirty="0"/>
              <a:t> SAN (Storage Area Networks) / DAS (Direct </a:t>
            </a:r>
            <a:r>
              <a:rPr lang="en-US" sz="1200" dirty="0" err="1"/>
              <a:t>Acces</a:t>
            </a:r>
            <a:r>
              <a:rPr lang="en-US" sz="1200" dirty="0"/>
              <a:t> Storage) / NAS (</a:t>
            </a:r>
            <a:r>
              <a:rPr lang="en-US" sz="1200"/>
              <a:t>Network </a:t>
            </a:r>
            <a:r>
              <a:rPr lang="en-US" sz="1200" smtClean="0"/>
              <a:t>Attached </a:t>
            </a:r>
            <a:r>
              <a:rPr lang="en-US" sz="1200" dirty="0"/>
              <a:t>Storage)</a:t>
            </a:r>
          </a:p>
          <a:p>
            <a:pPr marL="0" indent="0">
              <a:buNone/>
            </a:pPr>
            <a:r>
              <a:rPr lang="en-US" sz="1200" b="1" dirty="0"/>
              <a:t>La </a:t>
            </a:r>
            <a:r>
              <a:rPr lang="en-US" sz="1200" b="1" dirty="0" err="1"/>
              <a:t>technologie</a:t>
            </a:r>
            <a:r>
              <a:rPr lang="en-US" sz="1200" b="1" dirty="0"/>
              <a:t> SAN </a:t>
            </a:r>
            <a:r>
              <a:rPr lang="en-US" sz="1200" b="1" dirty="0" err="1"/>
              <a:t>amène</a:t>
            </a:r>
            <a:r>
              <a:rPr lang="en-US" sz="1200" b="1" dirty="0"/>
              <a:t> </a:t>
            </a:r>
            <a:r>
              <a:rPr lang="en-US" sz="1200" b="1" dirty="0" err="1"/>
              <a:t>également</a:t>
            </a:r>
            <a:r>
              <a:rPr lang="en-US" sz="1200" b="1" dirty="0"/>
              <a:t> </a:t>
            </a:r>
            <a:r>
              <a:rPr lang="en-US" sz="1200" b="1" dirty="0" err="1"/>
              <a:t>une</a:t>
            </a:r>
            <a:r>
              <a:rPr lang="en-US" sz="1200" b="1" dirty="0"/>
              <a:t> evolution au </a:t>
            </a:r>
            <a:r>
              <a:rPr lang="en-US" sz="1200" b="1" dirty="0" err="1"/>
              <a:t>niveau</a:t>
            </a:r>
            <a:r>
              <a:rPr lang="en-US" sz="1200" b="1" dirty="0"/>
              <a:t> des </a:t>
            </a:r>
            <a:r>
              <a:rPr lang="en-US" sz="1200" b="1" dirty="0" err="1"/>
              <a:t>moyens</a:t>
            </a:r>
            <a:r>
              <a:rPr lang="en-US" sz="1200" b="1" dirty="0"/>
              <a:t> </a:t>
            </a:r>
            <a:r>
              <a:rPr lang="en-US" sz="1200" b="1" dirty="0" err="1"/>
              <a:t>réseaux</a:t>
            </a:r>
            <a:r>
              <a:rPr lang="en-US" sz="1200" b="1" dirty="0"/>
              <a:t> : </a:t>
            </a:r>
          </a:p>
          <a:p>
            <a:r>
              <a:rPr lang="en-US" sz="1200" dirty="0"/>
              <a:t>Les </a:t>
            </a:r>
            <a:r>
              <a:rPr lang="en-US" sz="1200" dirty="0" err="1"/>
              <a:t>profocoles</a:t>
            </a:r>
            <a:r>
              <a:rPr lang="en-US" sz="1200" dirty="0"/>
              <a:t> </a:t>
            </a:r>
            <a:r>
              <a:rPr lang="en-US" sz="1200" dirty="0" err="1"/>
              <a:t>comme</a:t>
            </a:r>
            <a:r>
              <a:rPr lang="en-US" sz="1200" dirty="0"/>
              <a:t> iSCSI</a:t>
            </a:r>
          </a:p>
          <a:p>
            <a:r>
              <a:rPr lang="en-US" sz="1200" dirty="0"/>
              <a:t>Le Fiber Channel.</a:t>
            </a:r>
          </a:p>
          <a:p>
            <a:r>
              <a:rPr lang="en-US" sz="1200" dirty="0"/>
              <a:t>Duplication </a:t>
            </a:r>
            <a:r>
              <a:rPr lang="en-US" sz="1200" dirty="0" err="1"/>
              <a:t>en</a:t>
            </a:r>
            <a:r>
              <a:rPr lang="en-US" sz="1200" dirty="0"/>
              <a:t> mode “block”</a:t>
            </a:r>
          </a:p>
          <a:p>
            <a:pPr marL="0" indent="0">
              <a:buNone/>
            </a:pPr>
            <a:r>
              <a:rPr lang="en-US" sz="1200" b="1" dirty="0"/>
              <a:t>Et </a:t>
            </a:r>
            <a:r>
              <a:rPr lang="en-US" sz="1200" b="1" dirty="0" err="1"/>
              <a:t>enfin</a:t>
            </a:r>
            <a:r>
              <a:rPr lang="en-US" sz="1200" b="1" dirty="0"/>
              <a:t>, la virtualization et </a:t>
            </a:r>
            <a:r>
              <a:rPr lang="en-US" sz="1200" b="1" dirty="0" err="1"/>
              <a:t>tous</a:t>
            </a:r>
            <a:r>
              <a:rPr lang="en-US" sz="1200" b="1" dirty="0"/>
              <a:t> </a:t>
            </a:r>
            <a:r>
              <a:rPr lang="en-US" sz="1200" b="1" dirty="0" err="1"/>
              <a:t>ces</a:t>
            </a:r>
            <a:r>
              <a:rPr lang="en-US" sz="1200" b="1" dirty="0"/>
              <a:t> </a:t>
            </a:r>
            <a:r>
              <a:rPr lang="en-US" sz="1200" b="1" dirty="0" err="1"/>
              <a:t>moyens</a:t>
            </a:r>
            <a:r>
              <a:rPr lang="en-US" sz="1200" b="1" dirty="0"/>
              <a:t> </a:t>
            </a:r>
            <a:r>
              <a:rPr lang="en-US" sz="1200" b="1" dirty="0" err="1"/>
              <a:t>amènent</a:t>
            </a:r>
            <a:r>
              <a:rPr lang="en-US" sz="1200" b="1" dirty="0"/>
              <a:t> </a:t>
            </a:r>
            <a:r>
              <a:rPr lang="en-US" sz="1200" b="1" dirty="0" err="1"/>
              <a:t>une</a:t>
            </a:r>
            <a:r>
              <a:rPr lang="en-US" sz="1200" b="1" dirty="0"/>
              <a:t> </a:t>
            </a:r>
            <a:r>
              <a:rPr lang="en-US" sz="1200" b="1" dirty="0" err="1"/>
              <a:t>autre</a:t>
            </a:r>
            <a:r>
              <a:rPr lang="en-US" sz="1200" b="1" dirty="0"/>
              <a:t> </a:t>
            </a:r>
            <a:r>
              <a:rPr lang="en-US" sz="1200" b="1" dirty="0" err="1"/>
              <a:t>manière</a:t>
            </a:r>
            <a:r>
              <a:rPr lang="en-US" sz="1200" b="1" dirty="0"/>
              <a:t> de stocker (un </a:t>
            </a:r>
            <a:r>
              <a:rPr lang="en-US" sz="1200" b="1" dirty="0" err="1"/>
              <a:t>stockage</a:t>
            </a:r>
            <a:r>
              <a:rPr lang="en-US" sz="1200" b="1" dirty="0"/>
              <a:t> </a:t>
            </a:r>
            <a:r>
              <a:rPr lang="en-US" sz="1200" b="1" dirty="0" err="1"/>
              <a:t>n’est</a:t>
            </a:r>
            <a:r>
              <a:rPr lang="en-US" sz="1200" b="1" dirty="0"/>
              <a:t> plus </a:t>
            </a:r>
            <a:r>
              <a:rPr lang="en-US" sz="1200" b="1" dirty="0" err="1"/>
              <a:t>forcément</a:t>
            </a:r>
            <a:r>
              <a:rPr lang="en-US" sz="1200" b="1" dirty="0"/>
              <a:t> </a:t>
            </a:r>
            <a:r>
              <a:rPr lang="en-US" sz="1200" b="1" dirty="0" err="1"/>
              <a:t>effectué</a:t>
            </a:r>
            <a:r>
              <a:rPr lang="en-US" sz="1200" b="1" dirty="0"/>
              <a:t> sur un support physique, </a:t>
            </a:r>
            <a:r>
              <a:rPr lang="en-US" sz="1200" b="1" dirty="0" err="1"/>
              <a:t>mais</a:t>
            </a:r>
            <a:r>
              <a:rPr lang="en-US" sz="1200" b="1" dirty="0"/>
              <a:t> </a:t>
            </a:r>
            <a:r>
              <a:rPr lang="en-US" sz="1200" b="1" dirty="0" err="1"/>
              <a:t>dans</a:t>
            </a:r>
            <a:r>
              <a:rPr lang="en-US" sz="1200" b="1" dirty="0"/>
              <a:t> des </a:t>
            </a:r>
            <a:r>
              <a:rPr lang="en-US" sz="1200" b="1" dirty="0" err="1"/>
              <a:t>fichiers</a:t>
            </a:r>
            <a:r>
              <a:rPr lang="en-US" sz="1200" b="1" dirty="0"/>
              <a:t>, </a:t>
            </a:r>
            <a:r>
              <a:rPr lang="en-US" sz="1200" b="1" dirty="0" err="1"/>
              <a:t>ce</a:t>
            </a:r>
            <a:r>
              <a:rPr lang="en-US" sz="1200" b="1" dirty="0"/>
              <a:t> qui </a:t>
            </a:r>
            <a:r>
              <a:rPr lang="en-US" sz="1200" b="1" dirty="0" err="1"/>
              <a:t>induit</a:t>
            </a:r>
            <a:r>
              <a:rPr lang="en-US" sz="1200" b="1" dirty="0"/>
              <a:t> : </a:t>
            </a:r>
          </a:p>
          <a:p>
            <a:r>
              <a:rPr lang="fr-FR" sz="1200" dirty="0" err="1"/>
              <a:t>thin</a:t>
            </a:r>
            <a:r>
              <a:rPr lang="fr-FR" sz="1200" dirty="0"/>
              <a:t> </a:t>
            </a:r>
            <a:r>
              <a:rPr lang="fr-FR" sz="1200" dirty="0" err="1"/>
              <a:t>provisioning</a:t>
            </a:r>
            <a:endParaRPr lang="fr-FR" sz="1200" dirty="0"/>
          </a:p>
          <a:p>
            <a:r>
              <a:rPr lang="fr-FR" sz="1200" dirty="0"/>
              <a:t>over-</a:t>
            </a:r>
            <a:r>
              <a:rPr lang="fr-FR" sz="1200" dirty="0" err="1"/>
              <a:t>subscription</a:t>
            </a:r>
            <a:endParaRPr lang="fr-FR" sz="1200" dirty="0"/>
          </a:p>
          <a:p>
            <a:r>
              <a:rPr lang="fr-FR" sz="1200" dirty="0" err="1"/>
              <a:t>thin</a:t>
            </a:r>
            <a:r>
              <a:rPr lang="fr-FR" sz="1200" dirty="0"/>
              <a:t> </a:t>
            </a:r>
            <a:r>
              <a:rPr lang="fr-FR" sz="1200" dirty="0" err="1"/>
              <a:t>persistence</a:t>
            </a:r>
            <a:r>
              <a:rPr lang="fr-FR" sz="1200" dirty="0"/>
              <a:t>.</a:t>
            </a:r>
          </a:p>
          <a:p>
            <a:endParaRPr lang="en-US" sz="1200" dirty="0"/>
          </a:p>
          <a:p>
            <a:pPr marL="0" indent="0">
              <a:buNone/>
            </a:pPr>
            <a:endParaRPr lang="en-US" sz="1200" dirty="0"/>
          </a:p>
          <a:p>
            <a:endParaRPr lang="fr-FR" sz="12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24</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200257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Disponibilité des serveurs : Le réseau</a:t>
            </a:r>
          </a:p>
        </p:txBody>
      </p:sp>
      <p:sp>
        <p:nvSpPr>
          <p:cNvPr id="3" name="Espace réservé du contenu 2"/>
          <p:cNvSpPr>
            <a:spLocks noGrp="1"/>
          </p:cNvSpPr>
          <p:nvPr>
            <p:ph idx="1"/>
          </p:nvPr>
        </p:nvSpPr>
        <p:spPr>
          <a:xfrm>
            <a:off x="2140527" y="1227438"/>
            <a:ext cx="9364085" cy="4908370"/>
          </a:xfrm>
        </p:spPr>
        <p:txBody>
          <a:bodyPr>
            <a:normAutofit lnSpcReduction="10000"/>
          </a:bodyPr>
          <a:lstStyle/>
          <a:p>
            <a:pPr marL="0" indent="0">
              <a:buNone/>
            </a:pPr>
            <a:r>
              <a:rPr lang="fr-FR" sz="1400" dirty="0"/>
              <a:t>Toutes ces évolutions doivent reposer sur une couche de communication fiable, ainsi, on peut citer un certain nombre de protocoles réseau qui visent à assurer la haute disponibilité et l’optimisation des liens, comme par exemple : </a:t>
            </a:r>
          </a:p>
          <a:p>
            <a:pPr marL="0" indent="0">
              <a:buNone/>
            </a:pPr>
            <a:endParaRPr lang="fr-FR" sz="1400" dirty="0"/>
          </a:p>
          <a:p>
            <a:r>
              <a:rPr lang="fr-FR" sz="1400" b="1" dirty="0"/>
              <a:t>L’agrégation de liens – </a:t>
            </a:r>
            <a:r>
              <a:rPr lang="fr-FR" sz="1200" b="1" dirty="0"/>
              <a:t>LACP </a:t>
            </a:r>
            <a:r>
              <a:rPr lang="fr-FR" sz="1200" dirty="0"/>
              <a:t>(Link </a:t>
            </a:r>
            <a:r>
              <a:rPr lang="fr-FR" sz="1200" dirty="0" err="1"/>
              <a:t>Aggregation</a:t>
            </a:r>
            <a:r>
              <a:rPr lang="fr-FR" sz="1200" dirty="0"/>
              <a:t> Control Protocol)  - IEEE 802.3ad</a:t>
            </a:r>
          </a:p>
          <a:p>
            <a:pPr marL="0" indent="0">
              <a:buNone/>
            </a:pPr>
            <a:endParaRPr lang="fr-FR" sz="1200" dirty="0"/>
          </a:p>
          <a:p>
            <a:r>
              <a:rPr lang="fr-FR" sz="1400" b="1" dirty="0"/>
              <a:t>VPC </a:t>
            </a:r>
            <a:r>
              <a:rPr lang="fr-FR" sz="1200" dirty="0"/>
              <a:t>(Virtual </a:t>
            </a:r>
            <a:r>
              <a:rPr lang="fr-FR" sz="1200" dirty="0" err="1"/>
              <a:t>PostChannel</a:t>
            </a:r>
            <a:r>
              <a:rPr lang="fr-FR" sz="1200" dirty="0"/>
              <a:t>) </a:t>
            </a:r>
          </a:p>
          <a:p>
            <a:pPr marL="0" indent="0">
              <a:buNone/>
            </a:pPr>
            <a:r>
              <a:rPr lang="fr-FR" sz="1200" i="1" dirty="0"/>
              <a:t>Le VPC signifie virtuel Port </a:t>
            </a:r>
            <a:r>
              <a:rPr lang="fr-FR" sz="1200" i="1" dirty="0" err="1"/>
              <a:t>channel</a:t>
            </a:r>
            <a:r>
              <a:rPr lang="fr-FR" sz="1200" i="1" dirty="0"/>
              <a:t> ou Port Channel avancé. Il est également connu sous le nom de </a:t>
            </a:r>
            <a:r>
              <a:rPr lang="fr-FR" sz="1200" b="1" i="1" dirty="0"/>
              <a:t>multi-châssis</a:t>
            </a:r>
            <a:r>
              <a:rPr lang="fr-FR" sz="1200" i="1" dirty="0"/>
              <a:t> </a:t>
            </a:r>
            <a:r>
              <a:rPr lang="fr-FR" sz="1200" b="1" i="1" dirty="0"/>
              <a:t>Port Channel</a:t>
            </a:r>
            <a:r>
              <a:rPr lang="fr-FR" sz="1200" i="1" dirty="0"/>
              <a:t>. Le Port Channel traditionnel ne peut pas regrouper les liens connectés à deux périphériques différents. Par exemple Si le commutateur </a:t>
            </a:r>
            <a:r>
              <a:rPr lang="fr-FR" sz="1200" b="1" i="1" dirty="0"/>
              <a:t>A</a:t>
            </a:r>
            <a:r>
              <a:rPr lang="fr-FR" sz="1200" i="1" dirty="0"/>
              <a:t> est connecté au commutateur </a:t>
            </a:r>
            <a:r>
              <a:rPr lang="fr-FR" sz="1200" b="1" i="1" dirty="0"/>
              <a:t>B</a:t>
            </a:r>
            <a:r>
              <a:rPr lang="fr-FR" sz="1200" i="1" dirty="0"/>
              <a:t> et au commutateur </a:t>
            </a:r>
            <a:r>
              <a:rPr lang="fr-FR" sz="1200" b="1" i="1" dirty="0"/>
              <a:t>C</a:t>
            </a:r>
            <a:r>
              <a:rPr lang="fr-FR" sz="1200" i="1" dirty="0"/>
              <a:t>, alors le Port Channel et ne peut pas être formé en regroupant les liens des commutateurs </a:t>
            </a:r>
            <a:r>
              <a:rPr lang="fr-FR" sz="1200" b="1" i="1" dirty="0"/>
              <a:t>B</a:t>
            </a:r>
            <a:r>
              <a:rPr lang="fr-FR" sz="1200" i="1" dirty="0"/>
              <a:t> et </a:t>
            </a:r>
            <a:r>
              <a:rPr lang="fr-FR" sz="1200" b="1" i="1" dirty="0"/>
              <a:t>C.</a:t>
            </a:r>
            <a:endParaRPr lang="fr-FR" sz="1200" i="1" dirty="0"/>
          </a:p>
          <a:p>
            <a:endParaRPr lang="fr-FR" sz="1200" dirty="0"/>
          </a:p>
          <a:p>
            <a:r>
              <a:rPr lang="fr-FR" sz="1400" b="1" dirty="0"/>
              <a:t>MSCP (Multiple </a:t>
            </a:r>
            <a:r>
              <a:rPr lang="fr-FR" sz="1400" b="1" dirty="0" err="1"/>
              <a:t>Spanning</a:t>
            </a:r>
            <a:r>
              <a:rPr lang="fr-FR" sz="1400" b="1" dirty="0"/>
              <a:t> </a:t>
            </a:r>
            <a:r>
              <a:rPr lang="fr-FR" sz="1400" b="1" dirty="0" err="1"/>
              <a:t>Tree</a:t>
            </a:r>
            <a:r>
              <a:rPr lang="fr-FR" sz="1400" b="1" dirty="0"/>
              <a:t> Protocol) - IEE 802.1q : </a:t>
            </a:r>
            <a:endParaRPr lang="en-US" sz="1400" b="1" dirty="0"/>
          </a:p>
          <a:p>
            <a:pPr marL="0" indent="0">
              <a:buNone/>
            </a:pPr>
            <a:r>
              <a:rPr lang="fr-FR" sz="1200" dirty="0"/>
              <a:t>Le </a:t>
            </a:r>
            <a:r>
              <a:rPr lang="fr-FR" sz="1200" dirty="0" err="1"/>
              <a:t>Spanning</a:t>
            </a:r>
            <a:r>
              <a:rPr lang="fr-FR" sz="1200" dirty="0"/>
              <a:t> </a:t>
            </a:r>
            <a:r>
              <a:rPr lang="fr-FR" sz="1200" dirty="0" err="1"/>
              <a:t>Tree</a:t>
            </a:r>
            <a:r>
              <a:rPr lang="fr-FR" sz="1200" dirty="0"/>
              <a:t> Protocol (aussi appelé STP) est un protocole réseau de niveau 2 permettant de déterminer une topologie réseau sans boucle (appelée algorithme de l'arbre recouvrant) dans les LAN avec ponts.</a:t>
            </a:r>
          </a:p>
          <a:p>
            <a:pPr marL="0" indent="0">
              <a:buNone/>
            </a:pPr>
            <a:r>
              <a:rPr lang="fr-FR" sz="1200" dirty="0"/>
              <a:t>Le Multiple </a:t>
            </a:r>
            <a:r>
              <a:rPr lang="fr-FR" sz="1200" dirty="0" err="1"/>
              <a:t>Spanning</a:t>
            </a:r>
            <a:r>
              <a:rPr lang="fr-FR" sz="1200" dirty="0"/>
              <a:t> </a:t>
            </a:r>
            <a:r>
              <a:rPr lang="fr-FR" sz="1200" dirty="0" err="1"/>
              <a:t>Tree</a:t>
            </a:r>
            <a:r>
              <a:rPr lang="fr-FR" sz="1200" dirty="0"/>
              <a:t> Protocol (MSTP) est une extension de RSTP (Rapid </a:t>
            </a:r>
            <a:r>
              <a:rPr lang="fr-FR" sz="1200" dirty="0" err="1"/>
              <a:t>Spanning</a:t>
            </a:r>
            <a:r>
              <a:rPr lang="fr-FR" sz="1200" dirty="0"/>
              <a:t> </a:t>
            </a:r>
            <a:r>
              <a:rPr lang="fr-FR" sz="1200" dirty="0" err="1"/>
              <a:t>Tree</a:t>
            </a:r>
            <a:r>
              <a:rPr lang="fr-FR" sz="1200" dirty="0"/>
              <a:t> Protocol) dans laquelle une instance de RSTP existe par groupe de VLAN.</a:t>
            </a:r>
          </a:p>
          <a:p>
            <a:pPr marL="0" indent="0">
              <a:buNone/>
            </a:pPr>
            <a:r>
              <a:rPr lang="fr-FR" sz="1200" dirty="0"/>
              <a:t>Disposer de plusieurs instances de STP permet de mieux utiliser les liaisons dans le réseau, si la topologie STP est différente pour certains groupes de VLAN.</a:t>
            </a:r>
            <a:endParaRPr lang="en-US" sz="1200" dirty="0"/>
          </a:p>
          <a:p>
            <a:endParaRPr lang="fr-FR" sz="12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432208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RTO et RPO</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r>
              <a:rPr lang="fr-FR" sz="1400" b="1" dirty="0"/>
              <a:t>Le RTO c'est quoi ?</a:t>
            </a:r>
          </a:p>
          <a:p>
            <a:r>
              <a:rPr lang="fr-FR" sz="1400" dirty="0"/>
              <a:t>Le RTO ou </a:t>
            </a:r>
            <a:r>
              <a:rPr lang="fr-FR" sz="1400" dirty="0" err="1"/>
              <a:t>Recovery</a:t>
            </a:r>
            <a:r>
              <a:rPr lang="fr-FR" sz="1400" dirty="0"/>
              <a:t> Time Objective, peut se traduire par la durée maximale d'interruption admissible. Il s'agit du temps maximal acceptable pendant lequel une ressource informatique (serveur, réseau, ordinateur, application) peut ne pas être fonctionnelle suite à une interruption majeure de service.</a:t>
            </a:r>
          </a:p>
          <a:p>
            <a:r>
              <a:rPr lang="fr-FR" sz="1400" dirty="0"/>
              <a:t>Cette durée est définie à l'avance, et ce en fonction des besoins de production d'une entreprise vis-à-vis de la ressource informatique.</a:t>
            </a:r>
          </a:p>
          <a:p>
            <a:r>
              <a:rPr lang="fr-FR" sz="1400" dirty="0"/>
              <a:t>Elle peut être aussi appelée « Temps de rétablissement »</a:t>
            </a:r>
          </a:p>
          <a:p>
            <a:pPr marL="0" indent="0">
              <a:buNone/>
            </a:pPr>
            <a:endParaRPr lang="fr-FR" sz="1400" dirty="0"/>
          </a:p>
          <a:p>
            <a:pPr marL="0" indent="0">
              <a:buNone/>
            </a:pPr>
            <a:r>
              <a:rPr lang="fr-FR" sz="1400" b="1" dirty="0"/>
              <a:t>Le RPO, c'est quoi ?</a:t>
            </a:r>
          </a:p>
          <a:p>
            <a:r>
              <a:rPr lang="fr-FR" sz="1400" dirty="0"/>
              <a:t>RPO ou </a:t>
            </a:r>
            <a:r>
              <a:rPr lang="fr-FR" sz="1400" dirty="0" err="1"/>
              <a:t>Recovery</a:t>
            </a:r>
            <a:r>
              <a:rPr lang="fr-FR" sz="1400" dirty="0"/>
              <a:t> Point Objective, désigne la durée maximum d'enregistrement des données qu'il est acceptable de perdre lors d'une panne. Le fait de quantifier le RPO définit en fait les objectifs de sauvegarde, ce qui demande de connaître la volumétrie et les fenêtres de sauvegarde. </a:t>
            </a:r>
          </a:p>
          <a:p>
            <a:pPr lvl="1"/>
            <a:r>
              <a:rPr lang="fr-FR" sz="1200" dirty="0"/>
              <a:t>Par exemple, si le RPO est défini à 24 heures et que la volumétrie est faible, alors on peut considérer que une sauvegarde complète en fin de journée suffit. </a:t>
            </a:r>
          </a:p>
          <a:p>
            <a:pPr lvl="1"/>
            <a:r>
              <a:rPr lang="fr-FR" sz="1200" dirty="0"/>
              <a:t>En revanche, si le RPO est très faible comme c'est le cas dans les secteurs de la banque ou des télécommunications, alors plusieurs sauvegardes seront nécessaires par jour, et en fonction de la volumétrie, différentes techniques de sauvegarde seront utilisées.</a:t>
            </a:r>
            <a:endParaRPr lang="fr-FR" sz="10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26</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693081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La RPO</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r>
              <a:rPr lang="fr-FR" sz="1600" b="1" dirty="0"/>
              <a:t>LA STRATEGIE ET L’IMPACT SUR LES ENTREPRISES :</a:t>
            </a:r>
            <a:endParaRPr lang="fr-FR" sz="1600" dirty="0"/>
          </a:p>
          <a:p>
            <a:r>
              <a:rPr lang="fr-FR" sz="1400" dirty="0"/>
              <a:t>La </a:t>
            </a:r>
            <a:r>
              <a:rPr lang="fr-FR" sz="1400" b="1" dirty="0"/>
              <a:t>perte de données maximale </a:t>
            </a:r>
            <a:r>
              <a:rPr lang="fr-FR" sz="1400" dirty="0"/>
              <a:t>admissible (PDMA), en anglais </a:t>
            </a:r>
            <a:r>
              <a:rPr lang="fr-FR" sz="1400" b="1" dirty="0" err="1"/>
              <a:t>recovery</a:t>
            </a:r>
            <a:r>
              <a:rPr lang="fr-FR" sz="1400" b="1" dirty="0"/>
              <a:t> point objective </a:t>
            </a:r>
            <a:r>
              <a:rPr lang="fr-FR" sz="1400" dirty="0"/>
              <a:t>(</a:t>
            </a:r>
            <a:r>
              <a:rPr lang="fr-FR" sz="1400" b="1" dirty="0"/>
              <a:t>RPO</a:t>
            </a:r>
            <a:r>
              <a:rPr lang="fr-FR" sz="1400" dirty="0"/>
              <a:t>) quantifie </a:t>
            </a:r>
            <a:r>
              <a:rPr lang="fr-FR" sz="1400" b="1" i="1" dirty="0"/>
              <a:t>les données qu'un système d'information peut être amené à perdre par suite d’un incident</a:t>
            </a:r>
            <a:r>
              <a:rPr lang="fr-FR" sz="1400" dirty="0"/>
              <a:t>. </a:t>
            </a:r>
          </a:p>
          <a:p>
            <a:r>
              <a:rPr lang="fr-FR" sz="1400" dirty="0"/>
              <a:t>Usuellement, elle exprime une durée entre l’incident provoquant la perte de données et la date la plus récente des données qui seront utilisées en remplacement des données perdues. </a:t>
            </a:r>
          </a:p>
          <a:p>
            <a:r>
              <a:rPr lang="fr-FR" sz="1400" dirty="0"/>
              <a:t>Cette durée est exprimée généralement en heures ou minutes.</a:t>
            </a:r>
          </a:p>
          <a:p>
            <a:r>
              <a:rPr lang="fr-FR" sz="1400" dirty="0"/>
              <a:t>La RPO est souvent déterminée par la fréquence et la nature des sauvegardes effectuées sur les ressources informatiques. Toutefois, les données utilisées en remplacement des données perdues ne proviennent pas nécessairement d’une sauvegarde/restauration. Elles peuvent par exemple être reconstruites à partir de journaux de transactions, être issues d’une réplication, d'une copie ou d'un </a:t>
            </a:r>
            <a:r>
              <a:rPr lang="fr-FR" sz="1400" dirty="0" err="1"/>
              <a:t>rejeu</a:t>
            </a:r>
            <a:r>
              <a:rPr lang="fr-FR" sz="1400" dirty="0"/>
              <a:t> différé…</a:t>
            </a:r>
            <a:endParaRPr lang="fr-FR" sz="1100"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pic>
        <p:nvPicPr>
          <p:cNvPr id="9" name="Image 8"/>
          <p:cNvPicPr>
            <a:picLocks noChangeAspect="1"/>
          </p:cNvPicPr>
          <p:nvPr/>
        </p:nvPicPr>
        <p:blipFill>
          <a:blip r:embed="rId4"/>
          <a:stretch>
            <a:fillRect/>
          </a:stretch>
        </p:blipFill>
        <p:spPr>
          <a:xfrm>
            <a:off x="4521210" y="4294175"/>
            <a:ext cx="4448338" cy="1911187"/>
          </a:xfrm>
          <a:prstGeom prst="rect">
            <a:avLst/>
          </a:prstGeom>
        </p:spPr>
      </p:pic>
      <p:sp>
        <p:nvSpPr>
          <p:cNvPr id="10"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2735087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PCA et PRA</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endParaRPr lang="fr-FR" sz="1600" b="1" dirty="0"/>
          </a:p>
          <a:p>
            <a:pPr marL="0" indent="0">
              <a:buNone/>
            </a:pPr>
            <a:r>
              <a:rPr lang="fr-FR" sz="1600" b="1" dirty="0"/>
              <a:t>QU’EST QU’UN PRA ?</a:t>
            </a:r>
          </a:p>
          <a:p>
            <a:pPr marL="0" indent="0">
              <a:buNone/>
            </a:pPr>
            <a:endParaRPr lang="fr-FR" sz="1600" b="1" dirty="0"/>
          </a:p>
          <a:p>
            <a:r>
              <a:rPr lang="fr-FR" sz="1600" dirty="0"/>
              <a:t>Un Plan de Reprise d’Activité (PRA) est une procédure qui permet d’assurer la reprise des activités, en mode dégradé ou à plein régime, de votre entreprise en cas de sinistre (inondation, coupure électrique, incendie, destruction de données vitales…)</a:t>
            </a:r>
          </a:p>
          <a:p>
            <a:pPr marL="0" indent="0">
              <a:buNone/>
            </a:pPr>
            <a:endParaRPr lang="fr-FR" sz="1600" dirty="0"/>
          </a:p>
          <a:p>
            <a:r>
              <a:rPr lang="fr-FR" sz="1600" dirty="0"/>
              <a:t>L’objectif principal est d’anticiper et d’atténuer les effets dévastateurs d’une crise ou catastrophe naturelle sur la pérennité de vos activités. C’est un document qui répertorie les démarches à entreprendre pour reconstruire son système informatique en cas de crise importante et la remise en route des applications nécessaires aux activités d’une entreprise.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28</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174397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PCA et PRA</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endParaRPr lang="fr-FR" sz="1600" b="1" dirty="0"/>
          </a:p>
          <a:p>
            <a:pPr marL="0" indent="0">
              <a:buNone/>
            </a:pPr>
            <a:r>
              <a:rPr lang="fr-FR" sz="1600" b="1" dirty="0"/>
              <a:t>QU’EST QU’UN PCA ? </a:t>
            </a:r>
          </a:p>
          <a:p>
            <a:endParaRPr lang="fr-FR" sz="1600" dirty="0"/>
          </a:p>
          <a:p>
            <a:r>
              <a:rPr lang="fr-FR" sz="1600" dirty="0"/>
              <a:t>Un Plan de Continuité d’Activité (PCA) est une procédure qui permet d’assurer la continuité des activités d’une entreprise, sans perte de données et qui offrira un accès au SI sans rupture d’exploitation. </a:t>
            </a:r>
          </a:p>
          <a:p>
            <a:r>
              <a:rPr lang="fr-FR" sz="1600" dirty="0"/>
              <a:t>Si la sécurité est souvent abordée avec une approche orientée logiciel (anti-spam, anti-virus…), elle doit être encadrée par des dispositifs plus structurants que sont le PRA et le PCA.</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269849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PCA et PRA</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endParaRPr lang="fr-FR" sz="1600" b="1" dirty="0"/>
          </a:p>
          <a:p>
            <a:pPr marL="0" indent="0">
              <a:buNone/>
            </a:pPr>
            <a:r>
              <a:rPr lang="fr-FR" sz="1600" b="1" dirty="0"/>
              <a:t>COMMENT METTRE EN PLACE UN PCA ? (généralités)</a:t>
            </a:r>
          </a:p>
          <a:p>
            <a:endParaRPr lang="fr-FR" sz="1600" dirty="0"/>
          </a:p>
          <a:p>
            <a:r>
              <a:rPr lang="fr-FR" sz="1600" dirty="0"/>
              <a:t>Un PCA vous permet d’anticiper et de minimiser les impacts légaux, financiers et en termes d’image d’un sinistre affectant votre entreprise.</a:t>
            </a:r>
          </a:p>
          <a:p>
            <a:r>
              <a:rPr lang="fr-FR" sz="1600" dirty="0"/>
              <a:t>Trois étapes sont nécessaires pour mettre en œuvre un plan de continuité d’activité :</a:t>
            </a:r>
          </a:p>
          <a:p>
            <a:pPr lvl="1"/>
            <a:r>
              <a:rPr lang="fr-FR" sz="1400" dirty="0"/>
              <a:t>identifier les besoins de continuité ;</a:t>
            </a:r>
          </a:p>
          <a:p>
            <a:pPr lvl="1"/>
            <a:r>
              <a:rPr lang="fr-FR" sz="1400" dirty="0"/>
              <a:t>établir la base documentaire définissant toutes les procédures de continuité ;</a:t>
            </a:r>
          </a:p>
          <a:p>
            <a:pPr lvl="1"/>
            <a:r>
              <a:rPr lang="fr-FR" sz="1400" dirty="0"/>
              <a:t>tester régulièrement votre PCA pour corriger ses manques et incohérences.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30</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1805803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PCA et PRA</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endParaRPr lang="fr-FR" sz="1600" b="1" dirty="0"/>
          </a:p>
          <a:p>
            <a:pPr marL="0" indent="0">
              <a:buNone/>
            </a:pPr>
            <a:r>
              <a:rPr lang="fr-FR" sz="1600" b="1" dirty="0"/>
              <a:t>COMMENT METTRE EN PLACE UN PRA ? (généralités)</a:t>
            </a:r>
          </a:p>
          <a:p>
            <a:endParaRPr lang="fr-FR" sz="1600" dirty="0"/>
          </a:p>
          <a:p>
            <a:r>
              <a:rPr lang="fr-FR" sz="1600" dirty="0"/>
              <a:t>Une simple sauvegarde ne fait pas un bon PRA ! On peut y prévoir :</a:t>
            </a:r>
          </a:p>
          <a:p>
            <a:pPr lvl="1"/>
            <a:r>
              <a:rPr lang="fr-FR" sz="1400" dirty="0"/>
              <a:t>la présence de sites secours ;</a:t>
            </a:r>
          </a:p>
          <a:p>
            <a:pPr lvl="1"/>
            <a:r>
              <a:rPr lang="fr-FR" sz="1400" dirty="0"/>
              <a:t>la redondance de données entre </a:t>
            </a:r>
            <a:r>
              <a:rPr lang="fr-FR" sz="1400" b="1" i="1" dirty="0"/>
              <a:t>data </a:t>
            </a:r>
            <a:r>
              <a:rPr lang="fr-FR" sz="1400" b="1" i="1" dirty="0" err="1"/>
              <a:t>centers</a:t>
            </a:r>
            <a:r>
              <a:rPr lang="fr-FR" sz="1400" dirty="0"/>
              <a:t> ;</a:t>
            </a:r>
          </a:p>
          <a:p>
            <a:pPr lvl="1"/>
            <a:r>
              <a:rPr lang="fr-FR" sz="1400" dirty="0"/>
              <a:t>les paramètres de redémarrage des applications ou des machines.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3824144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PCA et PRA</a:t>
            </a:r>
          </a:p>
        </p:txBody>
      </p:sp>
      <p:sp>
        <p:nvSpPr>
          <p:cNvPr id="3" name="Espace réservé du contenu 2"/>
          <p:cNvSpPr>
            <a:spLocks noGrp="1"/>
          </p:cNvSpPr>
          <p:nvPr>
            <p:ph idx="1"/>
          </p:nvPr>
        </p:nvSpPr>
        <p:spPr>
          <a:xfrm>
            <a:off x="2140527" y="1227438"/>
            <a:ext cx="9364085" cy="4908370"/>
          </a:xfrm>
        </p:spPr>
        <p:txBody>
          <a:bodyPr>
            <a:normAutofit/>
          </a:bodyPr>
          <a:lstStyle/>
          <a:p>
            <a:pPr marL="0" indent="0">
              <a:buNone/>
            </a:pPr>
            <a:endParaRPr lang="fr-FR" sz="1600" b="1" dirty="0"/>
          </a:p>
          <a:p>
            <a:pPr marL="0" indent="0">
              <a:buNone/>
            </a:pPr>
            <a:r>
              <a:rPr lang="fr-FR" sz="1600" b="1" dirty="0"/>
              <a:t>LA STRATEGIE ET L’IMPACT SUR LES ENTREPRISES :</a:t>
            </a:r>
          </a:p>
          <a:p>
            <a:endParaRPr lang="fr-FR" sz="1600" dirty="0"/>
          </a:p>
          <a:p>
            <a:r>
              <a:rPr lang="fr-FR" sz="1600" b="1" dirty="0"/>
              <a:t>Les enjeux de </a:t>
            </a:r>
            <a:r>
              <a:rPr lang="fr-FR" sz="1600" b="1" dirty="0" err="1"/>
              <a:t>cybersécurité</a:t>
            </a:r>
            <a:endParaRPr lang="fr-FR" sz="1600" b="1" dirty="0"/>
          </a:p>
          <a:p>
            <a:pPr lvl="1"/>
            <a:r>
              <a:rPr lang="fr-FR" sz="1200" dirty="0"/>
              <a:t>A l’ère du cloud </a:t>
            </a:r>
            <a:r>
              <a:rPr lang="fr-FR" sz="1200" dirty="0" err="1"/>
              <a:t>computing</a:t>
            </a:r>
            <a:r>
              <a:rPr lang="fr-FR" sz="1200" dirty="0"/>
              <a:t> et de sa virtualisation, on connait les proportions que peut prendre une cyberattaque.</a:t>
            </a:r>
          </a:p>
          <a:p>
            <a:pPr lvl="1"/>
            <a:r>
              <a:rPr lang="fr-FR" sz="1200" dirty="0"/>
              <a:t>93 % des entreprises ont été victimes de tentatives de fraude en 2016.</a:t>
            </a:r>
          </a:p>
          <a:p>
            <a:pPr lvl="1"/>
            <a:r>
              <a:rPr lang="fr-FR" sz="1200" dirty="0"/>
              <a:t>Ce chiffre montre l’intensité de la menace. Le hacking est protéiforme : virus, logiciels espions, cheval de Troie… Quel que soit le système d’exploitation utilisé, personne n’est à l’abri.</a:t>
            </a:r>
          </a:p>
          <a:p>
            <a:r>
              <a:rPr lang="fr-FR" sz="1400" b="1" dirty="0"/>
              <a:t>Des impacts plus profonds</a:t>
            </a:r>
          </a:p>
          <a:p>
            <a:pPr lvl="1"/>
            <a:r>
              <a:rPr lang="fr-FR" sz="1200" dirty="0"/>
              <a:t>Un dommage collatéral moins quantifiable, et cependant tout autant dommageable, est la cessation de service pour votre d’activité. Lors d’un plantage de l’infrastructure informatique, les collaborateurs n’ont plus accès à leurs outils de travail. Pour autant, le compteur tourne : une perte sèche pour l’entreprise.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32</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Tree>
    <p:extLst>
      <p:ext uri="{BB962C8B-B14F-4D97-AF65-F5344CB8AC3E}">
        <p14:creationId xmlns:p14="http://schemas.microsoft.com/office/powerpoint/2010/main" val="408931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Exemple en milieu hospitalier</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33</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4" name="Espace réservé du contenu 3"/>
          <p:cNvSpPr>
            <a:spLocks noGrp="1"/>
          </p:cNvSpPr>
          <p:nvPr>
            <p:ph idx="1"/>
          </p:nvPr>
        </p:nvSpPr>
        <p:spPr>
          <a:xfrm>
            <a:off x="2419783" y="1853265"/>
            <a:ext cx="8915400" cy="3777622"/>
          </a:xfrm>
        </p:spPr>
        <p:txBody>
          <a:bodyPr>
            <a:normAutofit/>
          </a:bodyPr>
          <a:lstStyle/>
          <a:p>
            <a:pPr lvl="2" algn="just"/>
            <a:endParaRPr lang="fr-FR" sz="1800" dirty="0"/>
          </a:p>
          <a:p>
            <a:pPr lvl="2" algn="just"/>
            <a:r>
              <a:rPr lang="fr-FR" sz="1800" dirty="0"/>
              <a:t>La cyber-résilience est la capacité pour un établissement de santé à anticiper, prévenir, répondre et récupérer d'une cyberattaque. Elle implique la mise en place de mesures de sécurité informatique et de gestion des risques, ainsi que la formation du personnel à la sécurité informatique. La cyber-résilience vise à minimiser les perturbations du système de santé, à préserver la confidentialité et l'intégrité des données des patients, et à garantir la disponibilité des services de soins de santé essentiels en cas de cyberattaque. </a:t>
            </a:r>
          </a:p>
          <a:p>
            <a:pPr lvl="2" algn="just"/>
            <a:endParaRPr lang="fr-FR" sz="1800" b="1" dirty="0"/>
          </a:p>
          <a:p>
            <a:pPr marL="914400" lvl="2" indent="0" algn="just">
              <a:buNone/>
            </a:pPr>
            <a:r>
              <a:rPr lang="fr-FR" sz="1800" b="1" dirty="0"/>
              <a:t>La cyber-résilience est essentielle pour garantir la continuité des soins. </a:t>
            </a:r>
          </a:p>
          <a:p>
            <a:endParaRPr lang="fr-FR" dirty="0"/>
          </a:p>
        </p:txBody>
      </p:sp>
    </p:spTree>
    <p:extLst>
      <p:ext uri="{BB962C8B-B14F-4D97-AF65-F5344CB8AC3E}">
        <p14:creationId xmlns:p14="http://schemas.microsoft.com/office/powerpoint/2010/main" val="1328241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Exemple : le PRA en milieu hospitalier</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34</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p:txBody>
          <a:bodyPr>
            <a:normAutofit fontScale="62500" lnSpcReduction="20000"/>
          </a:bodyPr>
          <a:lstStyle/>
          <a:p>
            <a:pPr algn="just">
              <a:buFontTx/>
              <a:buChar char="-"/>
            </a:pPr>
            <a:r>
              <a:rPr lang="fr-FR" b="1" dirty="0"/>
              <a:t>J’ai un PRA-I donc j’ai couvert le risque ? </a:t>
            </a:r>
          </a:p>
          <a:p>
            <a:pPr algn="just">
              <a:buFontTx/>
              <a:buChar char="-"/>
            </a:pPr>
            <a:endParaRPr lang="fr-FR" b="1" dirty="0"/>
          </a:p>
          <a:p>
            <a:pPr lvl="2" algn="just"/>
            <a:r>
              <a:rPr lang="fr-FR" sz="1800" b="1" dirty="0"/>
              <a:t>Le PRA-I des ES a été pensé pour faire face à une panne classique. La cyber-attaque occasionne des dysfonctionnements (voir panne) du SI mais n’est pas une panne classique et ne doit pas être traitée comme telle.</a:t>
            </a:r>
          </a:p>
          <a:p>
            <a:pPr lvl="2" algn="just"/>
            <a:endParaRPr lang="fr-FR" sz="1800" b="1" dirty="0"/>
          </a:p>
          <a:p>
            <a:pPr algn="just">
              <a:buFontTx/>
              <a:buChar char="-"/>
            </a:pPr>
            <a:r>
              <a:rPr lang="fr-FR" b="1" dirty="0"/>
              <a:t>Combien de temps pour remettre en fonction un SI ?</a:t>
            </a:r>
          </a:p>
          <a:p>
            <a:pPr algn="just">
              <a:buFontTx/>
              <a:buChar char="-"/>
            </a:pPr>
            <a:endParaRPr lang="fr-FR" b="1" dirty="0"/>
          </a:p>
          <a:p>
            <a:pPr lvl="2" algn="just"/>
            <a:r>
              <a:rPr lang="fr-FR" sz="1800" b="1" dirty="0"/>
              <a:t>L’expérience des autres établissements montre la difficulté de remédiation du SI suite à une cyber-attaque. La moyenne annoncée est de plusieurs mois dont au moins 15 jours en crise majeure !</a:t>
            </a:r>
          </a:p>
          <a:p>
            <a:pPr algn="just">
              <a:buFontTx/>
              <a:buChar char="-"/>
            </a:pPr>
            <a:endParaRPr lang="fr-FR" dirty="0"/>
          </a:p>
          <a:p>
            <a:pPr algn="just">
              <a:buFontTx/>
              <a:buChar char="-"/>
            </a:pPr>
            <a:r>
              <a:rPr lang="fr-FR" b="1" dirty="0"/>
              <a:t>Pourquoi ce n’est pas qu’un problème technique ? </a:t>
            </a:r>
          </a:p>
          <a:p>
            <a:pPr lvl="2" algn="just"/>
            <a:r>
              <a:rPr lang="fr-FR" sz="1800" b="1" dirty="0"/>
              <a:t>La DSI gère la remédiation mais pendant ce temps, il faut continuer à soigner les patients. Il faut donc penser l’organisation de crise qui peut durer des semaines voir plusieurs mois. </a:t>
            </a:r>
          </a:p>
          <a:p>
            <a:pPr marL="0" indent="0" algn="just">
              <a:buNone/>
            </a:pPr>
            <a:r>
              <a:rPr lang="fr-FR" b="1" dirty="0"/>
              <a:t>			80% d’organisation – 20% de technique </a:t>
            </a:r>
          </a:p>
          <a:p>
            <a:endParaRPr lang="fr-FR" dirty="0"/>
          </a:p>
        </p:txBody>
      </p:sp>
    </p:spTree>
    <p:extLst>
      <p:ext uri="{BB962C8B-B14F-4D97-AF65-F5344CB8AC3E}">
        <p14:creationId xmlns:p14="http://schemas.microsoft.com/office/powerpoint/2010/main" val="4010707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 plan de cyber résilience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35</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p:txBody>
          <a:bodyPr>
            <a:normAutofit fontScale="62500" lnSpcReduction="20000"/>
          </a:bodyPr>
          <a:lstStyle/>
          <a:p>
            <a:pPr>
              <a:buFontTx/>
              <a:buChar char="-"/>
            </a:pPr>
            <a:r>
              <a:rPr lang="fr-FR" b="1" dirty="0"/>
              <a:t>Définition d’un plan de résilience (incluant le métier !)</a:t>
            </a:r>
          </a:p>
          <a:p>
            <a:pPr>
              <a:buFontTx/>
              <a:buChar char="-"/>
            </a:pPr>
            <a:r>
              <a:rPr lang="fr-FR" b="1" dirty="0"/>
              <a:t>Gouvernance</a:t>
            </a:r>
          </a:p>
          <a:p>
            <a:pPr marL="1137788" lvl="2" indent="-342900">
              <a:buFontTx/>
              <a:buChar char="-"/>
            </a:pPr>
            <a:r>
              <a:rPr lang="fr-FR" sz="1800" b="1" dirty="0"/>
              <a:t>Cellule de crise</a:t>
            </a:r>
          </a:p>
          <a:p>
            <a:pPr marL="1137788" lvl="2" indent="-342900">
              <a:buFontTx/>
              <a:buChar char="-"/>
            </a:pPr>
            <a:r>
              <a:rPr lang="fr-FR" sz="1800" b="1" dirty="0"/>
              <a:t>Cellule de communication</a:t>
            </a:r>
          </a:p>
          <a:p>
            <a:pPr marL="1137788" lvl="2" indent="-342900">
              <a:buFontTx/>
              <a:buChar char="-"/>
            </a:pPr>
            <a:r>
              <a:rPr lang="fr-FR" sz="1800" b="1" dirty="0"/>
              <a:t>Cellule d’intervention DSI/Directions métiers</a:t>
            </a:r>
          </a:p>
          <a:p>
            <a:pPr marL="1535232" lvl="3" indent="-342900">
              <a:buFontTx/>
              <a:buChar char="-"/>
            </a:pPr>
            <a:r>
              <a:rPr lang="fr-FR" sz="1800" b="1" dirty="0"/>
              <a:t>Remédiation</a:t>
            </a:r>
          </a:p>
          <a:p>
            <a:pPr marL="1535232" lvl="3" indent="-342900">
              <a:buFontTx/>
              <a:buChar char="-"/>
            </a:pPr>
            <a:r>
              <a:rPr lang="fr-FR" sz="1800" b="1" dirty="0"/>
              <a:t>Accompagnement dans les services</a:t>
            </a:r>
          </a:p>
          <a:p>
            <a:pPr marL="1137788" lvl="2" indent="-342900">
              <a:buFontTx/>
              <a:buChar char="-"/>
            </a:pPr>
            <a:r>
              <a:rPr lang="fr-FR" sz="1800" b="1" dirty="0" err="1"/>
              <a:t>TaskForce</a:t>
            </a:r>
            <a:r>
              <a:rPr lang="fr-FR" sz="1800" b="1" dirty="0"/>
              <a:t> (PRIS) externe dédiée à l’arrêt de l’attaque</a:t>
            </a:r>
          </a:p>
          <a:p>
            <a:pPr marL="740344" lvl="1" indent="-342900">
              <a:buFontTx/>
              <a:buChar char="-"/>
            </a:pPr>
            <a:r>
              <a:rPr lang="fr-FR" sz="1800" b="1" dirty="0"/>
              <a:t>Définition du périmètre métier à défendre </a:t>
            </a:r>
          </a:p>
          <a:p>
            <a:pPr marL="740344" lvl="1" indent="-342900">
              <a:buFontTx/>
              <a:buChar char="-"/>
            </a:pPr>
            <a:r>
              <a:rPr lang="fr-FR" sz="1800" b="1" dirty="0"/>
              <a:t>Adapter la sûreté de l’ES durant la crise  </a:t>
            </a:r>
          </a:p>
          <a:p>
            <a:pPr marL="740344" lvl="1" indent="-342900">
              <a:buFontTx/>
              <a:buChar char="-"/>
            </a:pPr>
            <a:r>
              <a:rPr lang="fr-FR" sz="1800" b="1" dirty="0"/>
              <a:t>Cartographier les SI nécessaires et les organisations métiers</a:t>
            </a:r>
          </a:p>
          <a:p>
            <a:pPr marL="740344" lvl="1" indent="-342900">
              <a:buFontTx/>
              <a:buChar char="-"/>
            </a:pPr>
            <a:r>
              <a:rPr lang="fr-FR" sz="1800" b="1" dirty="0"/>
              <a:t>Définir une organisation (fonctionnelle et technique) pour couvrir la période de crise sans ou presque sans informatique</a:t>
            </a:r>
          </a:p>
          <a:p>
            <a:pPr marL="740344" lvl="1" indent="-342900">
              <a:buFontTx/>
              <a:buChar char="-"/>
            </a:pPr>
            <a:r>
              <a:rPr lang="fr-FR" sz="1800" b="1" dirty="0"/>
              <a:t>Abonder le PRA-I des </a:t>
            </a:r>
            <a:r>
              <a:rPr lang="fr-FR" sz="1800" b="1" dirty="0" err="1"/>
              <a:t>process</a:t>
            </a:r>
            <a:r>
              <a:rPr lang="fr-FR" sz="1800" b="1" dirty="0"/>
              <a:t> de remédiation</a:t>
            </a:r>
          </a:p>
          <a:p>
            <a:pPr marL="740344" lvl="1" indent="-342900">
              <a:buFontTx/>
              <a:buChar char="-"/>
            </a:pPr>
            <a:r>
              <a:rPr lang="fr-FR" sz="1800" b="1" dirty="0"/>
              <a:t>Jouer le plan de résilience de manière régulière par des simulations </a:t>
            </a:r>
          </a:p>
          <a:p>
            <a:endParaRPr lang="fr-FR" dirty="0"/>
          </a:p>
        </p:txBody>
      </p:sp>
    </p:spTree>
    <p:extLst>
      <p:ext uri="{BB962C8B-B14F-4D97-AF65-F5344CB8AC3E}">
        <p14:creationId xmlns:p14="http://schemas.microsoft.com/office/powerpoint/2010/main" val="15862392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étapes en amont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36</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p:txBody>
          <a:bodyPr>
            <a:normAutofit fontScale="92500" lnSpcReduction="20000"/>
          </a:bodyPr>
          <a:lstStyle/>
          <a:p>
            <a:pPr>
              <a:buFontTx/>
              <a:buChar char="-"/>
            </a:pPr>
            <a:r>
              <a:rPr lang="fr-FR" b="1" dirty="0"/>
              <a:t>Identifier: </a:t>
            </a:r>
            <a:r>
              <a:rPr lang="fr-FR" dirty="0"/>
              <a:t>la maturité de l’ES face aux cyber-attaques. En fonction des objectifs (périmètre à définir), de ses contraintes, il convient de réaliser un état des lieux factuel de ce qui est mis en place pour répondre aux cyber-attaques (vs ce qu’il faudrait mettre en place) et de définir une stratégie et un plan d’action. Les procédures dégradées doivent être écrites avec les métiers.</a:t>
            </a:r>
          </a:p>
          <a:p>
            <a:pPr>
              <a:buFontTx/>
              <a:buChar char="-"/>
            </a:pPr>
            <a:r>
              <a:rPr lang="fr-FR" b="1" dirty="0"/>
              <a:t>Protéger : </a:t>
            </a:r>
            <a:r>
              <a:rPr lang="fr-FR" dirty="0"/>
              <a:t>la deuxième étape vise à sensibiliser et former les équipes, renforcer les contrôles d’accès, identifier les failles et les corriger, mettre en place une correction systématique des vulnérabilités. Dans ce contexte, le « </a:t>
            </a:r>
            <a:r>
              <a:rPr lang="fr-FR" dirty="0" err="1"/>
              <a:t>zero</a:t>
            </a:r>
            <a:r>
              <a:rPr lang="fr-FR" dirty="0"/>
              <a:t> trust » doit être un principe directeur. Les procédures métiers doivent être accessibles même en cas d’arrêt complet du SIH. Des exercices de crise doivent être joués régulièrement. </a:t>
            </a:r>
            <a:r>
              <a:rPr lang="fr-FR" b="1" dirty="0"/>
              <a:t>La sauvegarde des données doit être sanctuarisée ! </a:t>
            </a:r>
          </a:p>
          <a:p>
            <a:pPr>
              <a:buFontTx/>
              <a:buChar char="-"/>
            </a:pPr>
            <a:r>
              <a:rPr lang="fr-FR" b="1" dirty="0"/>
              <a:t>Détecter</a:t>
            </a:r>
            <a:r>
              <a:rPr lang="fr-FR" dirty="0"/>
              <a:t> : un dispositif de détection doit être mis en œuvre pour identifier les nouvelles menaces internes et externes. La décision de déclencher le plan cyber-résilience doit être prise en dehors de toute émotion et en toutes circonstances. </a:t>
            </a:r>
            <a:endParaRPr lang="fr-FR" b="1" dirty="0"/>
          </a:p>
          <a:p>
            <a:endParaRPr lang="fr-FR" dirty="0"/>
          </a:p>
        </p:txBody>
      </p:sp>
    </p:spTree>
    <p:extLst>
      <p:ext uri="{BB962C8B-B14F-4D97-AF65-F5344CB8AC3E}">
        <p14:creationId xmlns:p14="http://schemas.microsoft.com/office/powerpoint/2010/main" val="550347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étapes en aval</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37</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p:txBody>
          <a:bodyPr>
            <a:normAutofit fontScale="92500" lnSpcReduction="10000"/>
          </a:bodyPr>
          <a:lstStyle/>
          <a:p>
            <a:pPr>
              <a:buFontTx/>
              <a:buChar char="-"/>
            </a:pPr>
            <a:r>
              <a:rPr lang="fr-FR" b="1" dirty="0"/>
              <a:t>Réagir</a:t>
            </a:r>
            <a:r>
              <a:rPr lang="fr-FR" dirty="0"/>
              <a:t> : il s’agit du cœur de la stratégie de cyber-résilience. Un plan d’intervention et d’orchestration doit faire gagner un temps précieux sur le déroulement des actions à entreprendre. Il convient d’engager des prestataires de réponse aux incidents de sécurité (PRIS) pour repousser les attaques et remédier aux dégâts en rétablissant les systèmes et en corrigeant les vulnérabilités. L’ES devra également décider de sa stratégie de communication envers les collaborateurs, les partenaires et les patients.  </a:t>
            </a:r>
          </a:p>
          <a:p>
            <a:pPr>
              <a:buFontTx/>
              <a:buChar char="-"/>
            </a:pPr>
            <a:r>
              <a:rPr lang="fr-FR" b="1" dirty="0"/>
              <a:t>Restaurer</a:t>
            </a:r>
            <a:r>
              <a:rPr lang="fr-FR" dirty="0"/>
              <a:t> : il faut enfin rétablir l’accès aux données, reconstruire les applications critiques, prioriser la mise en œuvre des ressources pour accélérer la récupération</a:t>
            </a:r>
          </a:p>
          <a:p>
            <a:pPr>
              <a:buFontTx/>
              <a:buChar char="-"/>
            </a:pPr>
            <a:endParaRPr lang="fr-FR" b="1" dirty="0"/>
          </a:p>
          <a:p>
            <a:r>
              <a:rPr lang="fr-FR" dirty="0"/>
              <a:t>Le concept de 3-2-1 (3 copies, 2 supports différents, 1 copie externalisée) doit être parfaitement mis en œuvre (immuabilité des données, identification de la dernière copie saine, …).</a:t>
            </a:r>
          </a:p>
          <a:p>
            <a:endParaRPr lang="fr-FR" dirty="0"/>
          </a:p>
        </p:txBody>
      </p:sp>
    </p:spTree>
    <p:extLst>
      <p:ext uri="{BB962C8B-B14F-4D97-AF65-F5344CB8AC3E}">
        <p14:creationId xmlns:p14="http://schemas.microsoft.com/office/powerpoint/2010/main" val="4149835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 cloud est-il la solution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38</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p:txBody>
          <a:bodyPr>
            <a:normAutofit fontScale="77500" lnSpcReduction="20000"/>
          </a:bodyPr>
          <a:lstStyle/>
          <a:p>
            <a:pPr algn="just"/>
            <a:r>
              <a:rPr lang="fr-FR" dirty="0"/>
              <a:t>Le challenge soulevé par un projet de résilience trouve sa solution dans l’organisation associée à une solution technique.</a:t>
            </a:r>
          </a:p>
          <a:p>
            <a:pPr algn="just"/>
            <a:endParaRPr lang="fr-FR" dirty="0"/>
          </a:p>
          <a:p>
            <a:pPr algn="just"/>
            <a:r>
              <a:rPr lang="fr-FR" dirty="0"/>
              <a:t>L’externalisation </a:t>
            </a:r>
            <a:r>
              <a:rPr lang="fr-FR" b="1" dirty="0"/>
              <a:t>complète</a:t>
            </a:r>
            <a:r>
              <a:rPr lang="fr-FR" dirty="0"/>
              <a:t> dans le Cloud est une utopie pour les grosses structures:</a:t>
            </a:r>
          </a:p>
          <a:p>
            <a:pPr algn="just">
              <a:buFontTx/>
              <a:buChar char="-"/>
            </a:pPr>
            <a:r>
              <a:rPr lang="fr-FR" dirty="0"/>
              <a:t>l’informatique biomédical est difficilement </a:t>
            </a:r>
            <a:r>
              <a:rPr lang="fr-FR" dirty="0" err="1"/>
              <a:t>externalisable</a:t>
            </a:r>
            <a:endParaRPr lang="fr-FR" dirty="0"/>
          </a:p>
          <a:p>
            <a:pPr algn="just">
              <a:buFontTx/>
              <a:buChar char="-"/>
            </a:pPr>
            <a:r>
              <a:rPr lang="fr-FR" dirty="0"/>
              <a:t>Le dossier patient peut être entièrement externalisé mais les coûts risquent d’être très élevés selon la complexité du SI et les interactions avec les logiciels sur site ne permettront au mieux un mode très dégradé</a:t>
            </a:r>
          </a:p>
          <a:p>
            <a:pPr algn="just">
              <a:buFontTx/>
              <a:buChar char="-"/>
            </a:pPr>
            <a:r>
              <a:rPr lang="fr-FR" dirty="0"/>
              <a:t>Le nombre de logiciels est immense et nombreux d’entre eux ne sont pas </a:t>
            </a:r>
            <a:r>
              <a:rPr lang="fr-FR" dirty="0" err="1"/>
              <a:t>externalisables</a:t>
            </a:r>
            <a:r>
              <a:rPr lang="fr-FR" dirty="0"/>
              <a:t> facilement (OS AIX, interfaces propriétaires….)</a:t>
            </a:r>
          </a:p>
          <a:p>
            <a:pPr algn="just">
              <a:buFontTx/>
              <a:buChar char="-"/>
            </a:pPr>
            <a:r>
              <a:rPr lang="fr-FR" dirty="0"/>
              <a:t>La première mesure préconisée est de couper les accès Internet</a:t>
            </a:r>
          </a:p>
          <a:p>
            <a:pPr algn="just">
              <a:buFontTx/>
              <a:buChar char="-"/>
            </a:pPr>
            <a:endParaRPr lang="fr-FR" dirty="0"/>
          </a:p>
          <a:p>
            <a:pPr algn="just"/>
            <a:r>
              <a:rPr lang="fr-FR" b="1" dirty="0"/>
              <a:t>Le cloud hybride peut être une solution techniquement intéressante dans la mise en œuvre de son PRA-I mais attention à bien garder la maitrise du SI. A défaut, la gouvernance des données sera perdue !</a:t>
            </a:r>
          </a:p>
          <a:p>
            <a:endParaRPr lang="fr-FR" dirty="0"/>
          </a:p>
        </p:txBody>
      </p:sp>
    </p:spTree>
    <p:extLst>
      <p:ext uri="{BB962C8B-B14F-4D97-AF65-F5344CB8AC3E}">
        <p14:creationId xmlns:p14="http://schemas.microsoft.com/office/powerpoint/2010/main" val="2762040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L’externalisation est-elle une solution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39</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Espace réservé du contenu 2"/>
          <p:cNvSpPr>
            <a:spLocks noGrp="1"/>
          </p:cNvSpPr>
          <p:nvPr>
            <p:ph idx="1"/>
          </p:nvPr>
        </p:nvSpPr>
        <p:spPr>
          <a:xfrm>
            <a:off x="2519082" y="1417899"/>
            <a:ext cx="8985530" cy="4493323"/>
          </a:xfrm>
        </p:spPr>
        <p:txBody>
          <a:bodyPr>
            <a:normAutofit fontScale="85000" lnSpcReduction="20000"/>
          </a:bodyPr>
          <a:lstStyle/>
          <a:p>
            <a:r>
              <a:rPr lang="fr-FR" dirty="0"/>
              <a:t>Néanmoins le Cloud peut apporter plusieurs solutions:</a:t>
            </a:r>
          </a:p>
          <a:p>
            <a:endParaRPr lang="fr-FR" dirty="0"/>
          </a:p>
          <a:p>
            <a:pPr>
              <a:buFontTx/>
              <a:buChar char="-"/>
            </a:pPr>
            <a:r>
              <a:rPr lang="fr-FR" dirty="0"/>
              <a:t>Maintenir des moyens de communication opérationnels</a:t>
            </a:r>
          </a:p>
          <a:p>
            <a:pPr>
              <a:buFontTx/>
              <a:buChar char="-"/>
            </a:pPr>
            <a:r>
              <a:rPr lang="fr-FR" dirty="0"/>
              <a:t>Offrir une sécurisation des sauvegardes chiffrées</a:t>
            </a:r>
          </a:p>
          <a:p>
            <a:pPr>
              <a:buFontTx/>
              <a:buChar char="-"/>
            </a:pPr>
            <a:r>
              <a:rPr lang="fr-FR" dirty="0"/>
              <a:t>Permettre de restaurer les sauvegardes dans une infrastructure tierce les éléments les plus importants pour relancer au plus vite l’activité in situ</a:t>
            </a:r>
          </a:p>
          <a:p>
            <a:pPr>
              <a:buFontTx/>
              <a:buChar char="-"/>
            </a:pPr>
            <a:r>
              <a:rPr lang="fr-FR" dirty="0"/>
              <a:t>Améliorer à faible coût sa SSI (exemple: SOC managé)</a:t>
            </a:r>
          </a:p>
          <a:p>
            <a:pPr>
              <a:buFontTx/>
              <a:buChar char="-"/>
            </a:pPr>
            <a:r>
              <a:rPr lang="fr-FR" dirty="0"/>
              <a:t>Offrir un accès à des données sanctuarisées en mode </a:t>
            </a:r>
            <a:r>
              <a:rPr lang="fr-FR" dirty="0" err="1"/>
              <a:t>SaaS</a:t>
            </a:r>
            <a:endParaRPr lang="fr-FR" dirty="0"/>
          </a:p>
          <a:p>
            <a:endParaRPr lang="fr-FR" dirty="0"/>
          </a:p>
          <a:p>
            <a:r>
              <a:rPr lang="fr-FR" dirty="0"/>
              <a:t>Les contraintes réglementaires doivent être évaluées avant tout projet dans le cloud (</a:t>
            </a:r>
            <a:r>
              <a:rPr lang="fr-FR" dirty="0" err="1"/>
              <a:t>rgpd</a:t>
            </a:r>
            <a:r>
              <a:rPr lang="fr-FR" dirty="0"/>
              <a:t>, cloud souverain, </a:t>
            </a:r>
            <a:r>
              <a:rPr lang="fr-FR" dirty="0" err="1"/>
              <a:t>hds</a:t>
            </a:r>
            <a:r>
              <a:rPr lang="fr-FR" dirty="0"/>
              <a:t>…) </a:t>
            </a:r>
          </a:p>
          <a:p>
            <a:endParaRPr lang="fr-FR" dirty="0"/>
          </a:p>
          <a:p>
            <a:r>
              <a:rPr lang="fr-FR" dirty="0"/>
              <a:t>Le Cloud souverain permet de se conformer à la loi en vigueur dans un État ou une zone de juridiction particulière. Il est ici question du </a:t>
            </a:r>
            <a:r>
              <a:rPr lang="fr-FR" dirty="0">
                <a:hlinkClick r:id="rId4"/>
              </a:rPr>
              <a:t>RGPD</a:t>
            </a:r>
            <a:r>
              <a:rPr lang="fr-FR" dirty="0"/>
              <a:t> (Règlement Général sur la Protection des Données), introduit par l’UE en 2018. De plus, la certification HDS (hébergeur de données de santé) est souvent une obligation dans le secteur de la santé.</a:t>
            </a:r>
          </a:p>
          <a:p>
            <a:endParaRPr lang="fr-FR" dirty="0"/>
          </a:p>
        </p:txBody>
      </p:sp>
    </p:spTree>
    <p:extLst>
      <p:ext uri="{BB962C8B-B14F-4D97-AF65-F5344CB8AC3E}">
        <p14:creationId xmlns:p14="http://schemas.microsoft.com/office/powerpoint/2010/main" val="1353123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Cartographier les processus métiers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40</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pic>
        <p:nvPicPr>
          <p:cNvPr id="10" name="Imag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0057" y="1212560"/>
            <a:ext cx="7605915" cy="4989480"/>
          </a:xfrm>
          <a:prstGeom prst="rect">
            <a:avLst/>
          </a:prstGeom>
        </p:spPr>
      </p:pic>
    </p:spTree>
    <p:extLst>
      <p:ext uri="{BB962C8B-B14F-4D97-AF65-F5344CB8AC3E}">
        <p14:creationId xmlns:p14="http://schemas.microsoft.com/office/powerpoint/2010/main" val="4113945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procédures dégradées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41</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a:t>
            </a:r>
            <a:endParaRPr lang="en-US" sz="1000" i="1" dirty="0"/>
          </a:p>
        </p:txBody>
      </p:sp>
      <p:sp>
        <p:nvSpPr>
          <p:cNvPr id="3" name="Rectangle 2"/>
          <p:cNvSpPr/>
          <p:nvPr/>
        </p:nvSpPr>
        <p:spPr>
          <a:xfrm>
            <a:off x="2063432" y="1501154"/>
            <a:ext cx="8066685" cy="646331"/>
          </a:xfrm>
          <a:prstGeom prst="rect">
            <a:avLst/>
          </a:prstGeom>
        </p:spPr>
        <p:txBody>
          <a:bodyPr wrap="square">
            <a:spAutoFit/>
          </a:bodyPr>
          <a:lstStyle/>
          <a:p>
            <a:pPr marL="342900" indent="-342900">
              <a:buFontTx/>
              <a:buChar char="-"/>
            </a:pPr>
            <a:r>
              <a:rPr lang="fr-FR" dirty="0"/>
              <a:t>On doit cartographier les adhérences au système d’information de chaque processus métier.  </a:t>
            </a:r>
          </a:p>
        </p:txBody>
      </p:sp>
      <p:graphicFrame>
        <p:nvGraphicFramePr>
          <p:cNvPr id="11" name="Tableau 10"/>
          <p:cNvGraphicFramePr>
            <a:graphicFrameLocks noGrp="1"/>
          </p:cNvGraphicFramePr>
          <p:nvPr>
            <p:extLst>
              <p:ext uri="{D42A27DB-BD31-4B8C-83A1-F6EECF244321}">
                <p14:modId xmlns:p14="http://schemas.microsoft.com/office/powerpoint/2010/main" val="2594052741"/>
              </p:ext>
            </p:extLst>
          </p:nvPr>
        </p:nvGraphicFramePr>
        <p:xfrm>
          <a:off x="2063432" y="2202741"/>
          <a:ext cx="8383586" cy="4298192"/>
        </p:xfrm>
        <a:graphic>
          <a:graphicData uri="http://schemas.openxmlformats.org/drawingml/2006/table">
            <a:tbl>
              <a:tblPr>
                <a:tableStyleId>{5C22544A-7EE6-4342-B048-85BDC9FD1C3A}</a:tableStyleId>
              </a:tblPr>
              <a:tblGrid>
                <a:gridCol w="1131784">
                  <a:extLst>
                    <a:ext uri="{9D8B030D-6E8A-4147-A177-3AD203B41FA5}">
                      <a16:colId xmlns:a16="http://schemas.microsoft.com/office/drawing/2014/main" val="2380757961"/>
                    </a:ext>
                  </a:extLst>
                </a:gridCol>
                <a:gridCol w="2012060">
                  <a:extLst>
                    <a:ext uri="{9D8B030D-6E8A-4147-A177-3AD203B41FA5}">
                      <a16:colId xmlns:a16="http://schemas.microsoft.com/office/drawing/2014/main" val="2165562177"/>
                    </a:ext>
                  </a:extLst>
                </a:gridCol>
                <a:gridCol w="1307839">
                  <a:extLst>
                    <a:ext uri="{9D8B030D-6E8A-4147-A177-3AD203B41FA5}">
                      <a16:colId xmlns:a16="http://schemas.microsoft.com/office/drawing/2014/main" val="3771549303"/>
                    </a:ext>
                  </a:extLst>
                </a:gridCol>
                <a:gridCol w="1165319">
                  <a:extLst>
                    <a:ext uri="{9D8B030D-6E8A-4147-A177-3AD203B41FA5}">
                      <a16:colId xmlns:a16="http://schemas.microsoft.com/office/drawing/2014/main" val="107865413"/>
                    </a:ext>
                  </a:extLst>
                </a:gridCol>
                <a:gridCol w="838359">
                  <a:extLst>
                    <a:ext uri="{9D8B030D-6E8A-4147-A177-3AD203B41FA5}">
                      <a16:colId xmlns:a16="http://schemas.microsoft.com/office/drawing/2014/main" val="2274097816"/>
                    </a:ext>
                  </a:extLst>
                </a:gridCol>
                <a:gridCol w="628769">
                  <a:extLst>
                    <a:ext uri="{9D8B030D-6E8A-4147-A177-3AD203B41FA5}">
                      <a16:colId xmlns:a16="http://schemas.microsoft.com/office/drawing/2014/main" val="266019053"/>
                    </a:ext>
                  </a:extLst>
                </a:gridCol>
                <a:gridCol w="1299456">
                  <a:extLst>
                    <a:ext uri="{9D8B030D-6E8A-4147-A177-3AD203B41FA5}">
                      <a16:colId xmlns:a16="http://schemas.microsoft.com/office/drawing/2014/main" val="2701318944"/>
                    </a:ext>
                  </a:extLst>
                </a:gridCol>
              </a:tblGrid>
              <a:tr h="503687">
                <a:tc>
                  <a:txBody>
                    <a:bodyPr/>
                    <a:lstStyle/>
                    <a:p>
                      <a:pPr algn="ctr" fontAlgn="b"/>
                      <a:r>
                        <a:rPr lang="fr-FR" sz="1000" u="none" strike="noStrike">
                          <a:effectLst/>
                        </a:rPr>
                        <a:t>Etape</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Nom du Process</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Outil utilisé</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Commentaire</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Lien avec un service externe</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délai avant procédure dégradée</a:t>
                      </a:r>
                      <a:endParaRPr lang="fr-FR"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fr-FR" sz="1000" u="none" strike="noStrike">
                          <a:effectLst/>
                        </a:rPr>
                        <a:t>Solutions palliatives</a:t>
                      </a:r>
                      <a:endParaRPr lang="fr-FR" sz="10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1905355"/>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dirty="0">
                          <a:effectLst/>
                        </a:rPr>
                        <a:t>Hygiène Patient</a:t>
                      </a:r>
                      <a:endParaRPr lang="fr-FR"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dirty="0">
                          <a:effectLst/>
                        </a:rPr>
                        <a:t> </a:t>
                      </a:r>
                      <a:endParaRPr lang="fr-FR"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dirty="0">
                          <a:effectLst/>
                        </a:rPr>
                        <a:t> </a:t>
                      </a:r>
                      <a:endParaRPr lang="fr-FR"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3101096"/>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Hygiène matériel d'OP</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Stérilisation</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69657917"/>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Bionettoyage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49746840"/>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Programme Opératoire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30076407"/>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Gestion des ressources humaines</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Urgence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Téléphone</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51480018"/>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Réservation d'une salle OP</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Téléphone</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9972114"/>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Assurer la présence du matériel</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Téléphone</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4321339"/>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Oxygène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Téléphone</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85657008"/>
                  </a:ext>
                </a:extLst>
              </a:tr>
              <a:tr h="167896">
                <a:tc>
                  <a:txBody>
                    <a:bodyPr/>
                    <a:lstStyle/>
                    <a:p>
                      <a:pPr algn="l" fontAlgn="b"/>
                      <a:r>
                        <a:rPr lang="fr-FR" sz="1000" u="none" strike="noStrike">
                          <a:effectLst/>
                        </a:rPr>
                        <a:t>Préparation Pré Op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Commande de stupéfiants</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Téléphone 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43433860"/>
                  </a:ext>
                </a:extLst>
              </a:tr>
              <a:tr h="167896">
                <a:tc>
                  <a:txBody>
                    <a:bodyPr/>
                    <a:lstStyle/>
                    <a:p>
                      <a:pPr algn="l" fontAlgn="b"/>
                      <a:r>
                        <a:rPr lang="fr-FR" sz="1000" u="none" strike="noStrike">
                          <a:effectLst/>
                        </a:rPr>
                        <a:t>Arrivée du patient</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Identito-Vigilance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Papier</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55201458"/>
                  </a:ext>
                </a:extLst>
              </a:tr>
              <a:tr h="167896">
                <a:tc>
                  <a:txBody>
                    <a:bodyPr/>
                    <a:lstStyle/>
                    <a:p>
                      <a:pPr algn="l" fontAlgn="b"/>
                      <a:r>
                        <a:rPr lang="fr-FR" sz="1000" u="none" strike="noStrike">
                          <a:effectLst/>
                        </a:rPr>
                        <a:t>Arrivée du patient</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Edition Etiquette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Etiquette pré imprimée</a:t>
                      </a:r>
                      <a:endParaRPr lang="fr-FR"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45752822"/>
                  </a:ext>
                </a:extLst>
              </a:tr>
              <a:tr h="167896">
                <a:tc>
                  <a:txBody>
                    <a:bodyPr/>
                    <a:lstStyle/>
                    <a:p>
                      <a:pPr algn="l" fontAlgn="b"/>
                      <a:r>
                        <a:rPr lang="fr-FR" sz="1000" u="none" strike="noStrike">
                          <a:effectLst/>
                        </a:rPr>
                        <a:t>Arrivée du patient</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Admission urgente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Urgence</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a:effectLst/>
                        </a:rPr>
                        <a:t> </a:t>
                      </a:r>
                      <a:endParaRPr lang="fr-FR"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fr-FR" sz="1000" u="none" strike="noStrike" dirty="0">
                          <a:effectLst/>
                        </a:rPr>
                        <a:t>Téléphone</a:t>
                      </a:r>
                      <a:endParaRPr lang="fr-FR" sz="10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98509407"/>
                  </a:ext>
                </a:extLst>
              </a:tr>
            </a:tbl>
          </a:graphicData>
        </a:graphic>
      </p:graphicFrame>
    </p:spTree>
    <p:extLst>
      <p:ext uri="{BB962C8B-B14F-4D97-AF65-F5344CB8AC3E}">
        <p14:creationId xmlns:p14="http://schemas.microsoft.com/office/powerpoint/2010/main" val="3434602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 SI de secours pour les soignants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42</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143558" y="1511511"/>
            <a:ext cx="4184968" cy="4801314"/>
          </a:xfrm>
          <a:prstGeom prst="rect">
            <a:avLst/>
          </a:prstGeom>
        </p:spPr>
        <p:txBody>
          <a:bodyPr wrap="square">
            <a:spAutoFit/>
          </a:bodyPr>
          <a:lstStyle/>
          <a:p>
            <a:pPr marL="342900" indent="-342900" algn="just">
              <a:buFontTx/>
              <a:buChar char="-"/>
            </a:pPr>
            <a:endParaRPr lang="fr-FR" dirty="0"/>
          </a:p>
          <a:p>
            <a:pPr algn="just"/>
            <a:r>
              <a:rPr lang="fr-FR" dirty="0"/>
              <a:t>L’idée est de stocker toutes les données nécessaires à la prise en charge du patient dans un espace de stockage objet. L’idéal est de s’appuyer sur des solutions qui offrent des outils de visualisation autonome de ces données.</a:t>
            </a:r>
          </a:p>
          <a:p>
            <a:pPr algn="just"/>
            <a:endParaRPr lang="fr-FR" dirty="0"/>
          </a:p>
          <a:p>
            <a:pPr algn="just"/>
            <a:r>
              <a:rPr lang="fr-FR" dirty="0"/>
              <a:t>Ce type d’infra peut-être externalisée ou on </a:t>
            </a:r>
            <a:r>
              <a:rPr lang="fr-FR" dirty="0" err="1"/>
              <a:t>Premise</a:t>
            </a:r>
            <a:r>
              <a:rPr lang="fr-FR" dirty="0"/>
              <a:t> (dans ce cas sur un réseau dédié et totalement séparé de la </a:t>
            </a:r>
            <a:r>
              <a:rPr lang="fr-FR" dirty="0" err="1"/>
              <a:t>prod</a:t>
            </a:r>
            <a:r>
              <a:rPr lang="fr-FR" dirty="0"/>
              <a:t> !)</a:t>
            </a:r>
          </a:p>
          <a:p>
            <a:pPr algn="just"/>
            <a:r>
              <a:rPr lang="fr-FR" dirty="0"/>
              <a:t>L’avantage est de disposer d’un SI </a:t>
            </a:r>
            <a:r>
              <a:rPr lang="fr-FR" b="1" dirty="0"/>
              <a:t>minimal</a:t>
            </a:r>
            <a:r>
              <a:rPr lang="fr-FR" dirty="0"/>
              <a:t> hors d’attente des attaques avec des données non modifiables</a:t>
            </a:r>
          </a:p>
        </p:txBody>
      </p:sp>
      <p:pic>
        <p:nvPicPr>
          <p:cNvPr id="10" name="Image 9"/>
          <p:cNvPicPr>
            <a:picLocks noChangeAspect="1"/>
          </p:cNvPicPr>
          <p:nvPr/>
        </p:nvPicPr>
        <p:blipFill>
          <a:blip r:embed="rId4"/>
          <a:stretch>
            <a:fillRect/>
          </a:stretch>
        </p:blipFill>
        <p:spPr>
          <a:xfrm>
            <a:off x="5786941" y="1599058"/>
            <a:ext cx="6320364" cy="4438846"/>
          </a:xfrm>
          <a:prstGeom prst="rect">
            <a:avLst/>
          </a:prstGeom>
        </p:spPr>
      </p:pic>
    </p:spTree>
    <p:extLst>
      <p:ext uri="{BB962C8B-B14F-4D97-AF65-F5344CB8AC3E}">
        <p14:creationId xmlns:p14="http://schemas.microsoft.com/office/powerpoint/2010/main" val="1869981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La cellule d’intervention</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43</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3693319"/>
          </a:xfrm>
          <a:prstGeom prst="rect">
            <a:avLst/>
          </a:prstGeom>
        </p:spPr>
        <p:txBody>
          <a:bodyPr wrap="square">
            <a:spAutoFit/>
          </a:bodyPr>
          <a:lstStyle/>
          <a:p>
            <a:r>
              <a:rPr lang="fr-FR" dirty="0"/>
              <a:t>Il faut constituer trois missions avec du personnel dédié à chacune d’elles:</a:t>
            </a:r>
          </a:p>
          <a:p>
            <a:r>
              <a:rPr lang="fr-FR" b="1" dirty="0"/>
              <a:t>	</a:t>
            </a:r>
            <a:endParaRPr lang="fr-FR" dirty="0"/>
          </a:p>
          <a:p>
            <a:pPr marL="342900" indent="-342900">
              <a:buFontTx/>
              <a:buChar char="-"/>
            </a:pPr>
            <a:r>
              <a:rPr lang="fr-FR" b="1" dirty="0"/>
              <a:t>L’élimination de la menace : </a:t>
            </a:r>
            <a:r>
              <a:rPr lang="fr-FR" dirty="0"/>
              <a:t>Appel à des sociétés spécialisées (PRIS)</a:t>
            </a:r>
          </a:p>
          <a:p>
            <a:pPr marL="342900" indent="-342900">
              <a:buFontTx/>
              <a:buChar char="-"/>
            </a:pPr>
            <a:r>
              <a:rPr lang="fr-FR" b="1" dirty="0"/>
              <a:t>La gestion de la crise</a:t>
            </a:r>
          </a:p>
          <a:p>
            <a:pPr marL="740344" lvl="1" indent="-342900">
              <a:buFontTx/>
              <a:buChar char="-"/>
            </a:pPr>
            <a:r>
              <a:rPr lang="fr-FR" dirty="0"/>
              <a:t>Mettre en place les outils en mode autonome nécessaires à la continuité des soins</a:t>
            </a:r>
          </a:p>
          <a:p>
            <a:pPr marL="740344" lvl="1" indent="-342900">
              <a:buFontTx/>
              <a:buChar char="-"/>
            </a:pPr>
            <a:r>
              <a:rPr lang="fr-FR" dirty="0"/>
              <a:t>Accompagner sur place le personnel à la gestion des outils en mode dégradé</a:t>
            </a:r>
          </a:p>
          <a:p>
            <a:pPr marL="740344" lvl="1" indent="-342900">
              <a:buFontTx/>
              <a:buChar char="-"/>
            </a:pPr>
            <a:r>
              <a:rPr lang="fr-FR" dirty="0"/>
              <a:t>Anticiper les besoins en ressources humaines</a:t>
            </a:r>
          </a:p>
          <a:p>
            <a:pPr marL="342900" indent="-342900">
              <a:buFontTx/>
              <a:buChar char="-"/>
            </a:pPr>
            <a:r>
              <a:rPr lang="fr-FR" b="1" dirty="0"/>
              <a:t>La résolution de la crise</a:t>
            </a:r>
          </a:p>
          <a:p>
            <a:pPr marL="740344" lvl="1" indent="-342900">
              <a:buFontTx/>
              <a:buChar char="-"/>
            </a:pPr>
            <a:r>
              <a:rPr lang="fr-FR" dirty="0"/>
              <a:t>Déclenchement du PRA-I ou tout autre mode nécessaire au rétablissement du SI</a:t>
            </a:r>
          </a:p>
          <a:p>
            <a:pPr marL="740344" lvl="1" indent="-342900">
              <a:buFontTx/>
              <a:buChar char="-"/>
            </a:pPr>
            <a:r>
              <a:rPr lang="fr-FR" dirty="0"/>
              <a:t>Equipe de test des outils rétablis avant remise en production</a:t>
            </a:r>
          </a:p>
          <a:p>
            <a:pPr marL="740344" lvl="1" indent="-342900">
              <a:buFontTx/>
              <a:buChar char="-"/>
            </a:pPr>
            <a:endParaRPr lang="fr-FR" dirty="0"/>
          </a:p>
          <a:p>
            <a:r>
              <a:rPr lang="fr-FR" dirty="0"/>
              <a:t>Un correspondant informatique et biomédical doivent être nommés afin de remonter le plus précisément possible les impacts sur le SIH et l’état de remédiation.</a:t>
            </a:r>
          </a:p>
        </p:txBody>
      </p:sp>
    </p:spTree>
    <p:extLst>
      <p:ext uri="{BB962C8B-B14F-4D97-AF65-F5344CB8AC3E}">
        <p14:creationId xmlns:p14="http://schemas.microsoft.com/office/powerpoint/2010/main" val="2656167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applications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44</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4247317"/>
          </a:xfrm>
          <a:prstGeom prst="rect">
            <a:avLst/>
          </a:prstGeom>
        </p:spPr>
        <p:txBody>
          <a:bodyPr wrap="square">
            <a:spAutoFit/>
          </a:bodyPr>
          <a:lstStyle/>
          <a:p>
            <a:r>
              <a:rPr lang="fr-FR" dirty="0"/>
              <a:t>Quelques services à ne pas négliger en cas de défaillances informatiques:</a:t>
            </a:r>
          </a:p>
          <a:p>
            <a:endParaRPr lang="fr-FR" b="1" dirty="0"/>
          </a:p>
          <a:p>
            <a:pPr marL="342900" indent="-342900">
              <a:buFontTx/>
              <a:buChar char="-"/>
            </a:pPr>
            <a:r>
              <a:rPr lang="fr-FR" b="1" dirty="0"/>
              <a:t>La prise d’identité: </a:t>
            </a:r>
            <a:r>
              <a:rPr lang="fr-FR" dirty="0"/>
              <a:t>Pensez à mettre à disposition des fiches pré-imprimées pour saisir l’identité des patients dans chaque bureau d’accueil</a:t>
            </a:r>
          </a:p>
          <a:p>
            <a:pPr marL="342900" indent="-342900">
              <a:buFontTx/>
              <a:buChar char="-"/>
            </a:pPr>
            <a:endParaRPr lang="fr-FR" b="1" dirty="0"/>
          </a:p>
          <a:p>
            <a:pPr marL="342900" indent="-342900">
              <a:buFontTx/>
              <a:buChar char="-"/>
            </a:pPr>
            <a:r>
              <a:rPr lang="fr-FR" b="1" dirty="0"/>
              <a:t>Les moyens de communication :  </a:t>
            </a:r>
            <a:r>
              <a:rPr lang="fr-FR" dirty="0"/>
              <a:t>la communication est le pilier d’une bonne organisation. Si la vôtre est HS, utilisez en une autre ! </a:t>
            </a:r>
          </a:p>
          <a:p>
            <a:pPr marL="740344" lvl="1" indent="-342900">
              <a:buFontTx/>
              <a:buChar char="-"/>
            </a:pPr>
            <a:r>
              <a:rPr lang="fr-FR" dirty="0"/>
              <a:t>Pensez à mettre en place un système de communication en dehors de votre VOIP, voir de votre PABX (au minimum un fax et un téléphone portable par service. </a:t>
            </a:r>
          </a:p>
          <a:p>
            <a:pPr marL="740344" lvl="1" indent="-342900">
              <a:buFontTx/>
              <a:buChar char="-"/>
            </a:pPr>
            <a:r>
              <a:rPr lang="fr-FR" dirty="0"/>
              <a:t>L’utilisation d’une messagerie sécurisée de crise style TCHAP peut être intéressant).</a:t>
            </a:r>
            <a:r>
              <a:rPr lang="fr-FR" b="1" dirty="0"/>
              <a:t> </a:t>
            </a:r>
          </a:p>
          <a:p>
            <a:pPr marL="740344" lvl="1" indent="-342900">
              <a:buFontTx/>
              <a:buChar char="-"/>
            </a:pPr>
            <a:r>
              <a:rPr lang="fr-FR" dirty="0"/>
              <a:t>Un  serveur de mail externalisé doit être préparé en amont pour fonctionner en cas de sinistre</a:t>
            </a:r>
          </a:p>
          <a:p>
            <a:pPr marL="342900" indent="-342900">
              <a:buFontTx/>
              <a:buChar char="-"/>
            </a:pPr>
            <a:endParaRPr lang="fr-FR" dirty="0"/>
          </a:p>
          <a:p>
            <a:pPr marL="342900" indent="-342900">
              <a:buFontTx/>
              <a:buChar char="-"/>
            </a:pPr>
            <a:r>
              <a:rPr lang="fr-FR" b="1" dirty="0"/>
              <a:t>La gestion des transports: </a:t>
            </a:r>
            <a:r>
              <a:rPr lang="fr-FR" dirty="0"/>
              <a:t>Pensez à mettre en œuvre une cellule de gestion de crise pour le transport (logistique et patient)</a:t>
            </a:r>
          </a:p>
        </p:txBody>
      </p:sp>
    </p:spTree>
    <p:extLst>
      <p:ext uri="{BB962C8B-B14F-4D97-AF65-F5344CB8AC3E}">
        <p14:creationId xmlns:p14="http://schemas.microsoft.com/office/powerpoint/2010/main" val="4116182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applications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45</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2862322"/>
          </a:xfrm>
          <a:prstGeom prst="rect">
            <a:avLst/>
          </a:prstGeom>
        </p:spPr>
        <p:txBody>
          <a:bodyPr wrap="square">
            <a:spAutoFit/>
          </a:bodyPr>
          <a:lstStyle/>
          <a:p>
            <a:r>
              <a:rPr lang="fr-FR" dirty="0"/>
              <a:t>Quelques services à ne pas négliger en cas de défaillances informatiques:</a:t>
            </a:r>
          </a:p>
          <a:p>
            <a:endParaRPr lang="fr-FR" b="1" dirty="0"/>
          </a:p>
          <a:p>
            <a:pPr marL="342900" indent="-342900">
              <a:buFontTx/>
              <a:buChar char="-"/>
            </a:pPr>
            <a:endParaRPr lang="fr-FR" b="1" dirty="0"/>
          </a:p>
          <a:p>
            <a:pPr marL="342900" indent="-342900">
              <a:buFontTx/>
              <a:buChar char="-"/>
            </a:pPr>
            <a:endParaRPr lang="fr-FR" b="1" dirty="0"/>
          </a:p>
          <a:p>
            <a:pPr marL="342900" indent="-342900">
              <a:buFontTx/>
              <a:buChar char="-"/>
            </a:pPr>
            <a:r>
              <a:rPr lang="fr-FR" b="1" dirty="0"/>
              <a:t>La pharmacie, la stérilisation, le biomédical, mais aussi le service des achats </a:t>
            </a:r>
            <a:r>
              <a:rPr lang="fr-FR" dirty="0"/>
              <a:t>sont des services supports essentiels pour la continuité des soins. Un système en mode dégradé doit être défini en amont avec du matériel autonome du SIH.</a:t>
            </a:r>
          </a:p>
          <a:p>
            <a:pPr marL="342900" indent="-342900">
              <a:buFontTx/>
              <a:buChar char="-"/>
            </a:pPr>
            <a:endParaRPr lang="fr-FR" dirty="0"/>
          </a:p>
          <a:p>
            <a:pPr marL="342900" indent="-342900">
              <a:buFontTx/>
              <a:buChar char="-"/>
            </a:pPr>
            <a:r>
              <a:rPr lang="fr-FR" b="1" dirty="0"/>
              <a:t>Toute la partie industrielle d’un hôpital : </a:t>
            </a:r>
            <a:r>
              <a:rPr lang="fr-FR" dirty="0"/>
              <a:t>Gestion des alarmes, des automates, des accès physiques sécurisés….</a:t>
            </a:r>
          </a:p>
        </p:txBody>
      </p:sp>
    </p:spTree>
    <p:extLst>
      <p:ext uri="{BB962C8B-B14F-4D97-AF65-F5344CB8AC3E}">
        <p14:creationId xmlns:p14="http://schemas.microsoft.com/office/powerpoint/2010/main" val="2998155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applications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46</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1477328"/>
          </a:xfrm>
          <a:prstGeom prst="rect">
            <a:avLst/>
          </a:prstGeom>
        </p:spPr>
        <p:txBody>
          <a:bodyPr wrap="square">
            <a:spAutoFit/>
          </a:bodyPr>
          <a:lstStyle/>
          <a:p>
            <a:r>
              <a:rPr lang="fr-FR" dirty="0"/>
              <a:t>Afin de ne rien oublier, l’élaboration d’une liste des applications essentielles avec leur niveau de criticité doit être disponible dans le PR.</a:t>
            </a:r>
          </a:p>
          <a:p>
            <a:endParaRPr lang="fr-FR" b="1" dirty="0"/>
          </a:p>
          <a:p>
            <a:r>
              <a:rPr lang="fr-FR" dirty="0"/>
              <a:t>La DSI ne doit pas prendre la responsabilité de l’ordonnancement lors de la relance d’un SI. Cela doit être clairement défini avec le groupe de travail du Plan de résilience en amont.</a:t>
            </a:r>
          </a:p>
        </p:txBody>
      </p:sp>
    </p:spTree>
    <p:extLst>
      <p:ext uri="{BB962C8B-B14F-4D97-AF65-F5344CB8AC3E}">
        <p14:creationId xmlns:p14="http://schemas.microsoft.com/office/powerpoint/2010/main" val="35710399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applications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47</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3970318"/>
          </a:xfrm>
          <a:prstGeom prst="rect">
            <a:avLst/>
          </a:prstGeom>
        </p:spPr>
        <p:txBody>
          <a:bodyPr wrap="square">
            <a:spAutoFit/>
          </a:bodyPr>
          <a:lstStyle/>
          <a:p>
            <a:r>
              <a:rPr lang="fr-FR" dirty="0"/>
              <a:t>Un inventaire des actifs doit être disponible</a:t>
            </a:r>
          </a:p>
          <a:p>
            <a:endParaRPr lang="fr-FR" dirty="0"/>
          </a:p>
          <a:p>
            <a:r>
              <a:rPr lang="fr-FR" dirty="0"/>
              <a:t>La DSI et la cellule de crise doivent être dans la capacité d’adapter les affectations du matériel en temps réel</a:t>
            </a:r>
          </a:p>
          <a:p>
            <a:endParaRPr lang="fr-FR" dirty="0"/>
          </a:p>
          <a:p>
            <a:pPr marL="342900" indent="-342900">
              <a:buFontTx/>
              <a:buChar char="-"/>
            </a:pPr>
            <a:r>
              <a:rPr lang="fr-FR" dirty="0"/>
              <a:t>Préparation des postes en mode industriel avec différentes images adaptées aux besoins des services</a:t>
            </a:r>
          </a:p>
          <a:p>
            <a:pPr marL="342900" indent="-342900">
              <a:buFontTx/>
              <a:buChar char="-"/>
            </a:pPr>
            <a:r>
              <a:rPr lang="fr-FR" dirty="0"/>
              <a:t>Les imprimantes et autres moyens de communication doivent être capables de fonctionner en mode dégradé (perte du réseau).</a:t>
            </a:r>
          </a:p>
          <a:p>
            <a:pPr marL="342900" indent="-342900">
              <a:buFontTx/>
              <a:buChar char="-"/>
            </a:pPr>
            <a:r>
              <a:rPr lang="fr-FR" dirty="0"/>
              <a:t>Un accès Internet de secours doit être prêt et accessible afin de permettre la fluidité de la communication interne nécessaire à la gestion de la crise mais aussi à la production du soin (transport par exemple).</a:t>
            </a:r>
          </a:p>
          <a:p>
            <a:pPr marL="342900" indent="-342900">
              <a:buFontTx/>
              <a:buChar char="-"/>
            </a:pPr>
            <a:r>
              <a:rPr lang="fr-FR" dirty="0"/>
              <a:t>Des conventions doivent être signées en amont avec des établissements partenaires pour absorber l’activité en cas de besoin</a:t>
            </a:r>
          </a:p>
        </p:txBody>
      </p:sp>
    </p:spTree>
    <p:extLst>
      <p:ext uri="{BB962C8B-B14F-4D97-AF65-F5344CB8AC3E}">
        <p14:creationId xmlns:p14="http://schemas.microsoft.com/office/powerpoint/2010/main" val="3262580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Les procédures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48</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367675" y="1531499"/>
            <a:ext cx="10734677" cy="2308324"/>
          </a:xfrm>
          <a:prstGeom prst="rect">
            <a:avLst/>
          </a:prstGeom>
        </p:spPr>
        <p:txBody>
          <a:bodyPr wrap="square">
            <a:spAutoFit/>
          </a:bodyPr>
          <a:lstStyle/>
          <a:p>
            <a:r>
              <a:rPr lang="fr-FR" dirty="0"/>
              <a:t>Les procédures doivent être accessibles même en cas d’arrêt total du SIH:</a:t>
            </a:r>
          </a:p>
          <a:p>
            <a:endParaRPr lang="fr-FR" dirty="0"/>
          </a:p>
          <a:p>
            <a:pPr marL="342900" indent="-342900">
              <a:buFontTx/>
              <a:buChar char="-"/>
            </a:pPr>
            <a:r>
              <a:rPr lang="fr-FR" dirty="0"/>
              <a:t>Les procédures sur l’organisation des soins, les transports, ….</a:t>
            </a:r>
          </a:p>
          <a:p>
            <a:pPr marL="342900" indent="-342900">
              <a:buFontTx/>
              <a:buChar char="-"/>
            </a:pPr>
            <a:r>
              <a:rPr lang="fr-FR" dirty="0"/>
              <a:t>Un inventaire des actifs</a:t>
            </a:r>
          </a:p>
          <a:p>
            <a:pPr marL="342900" indent="-342900">
              <a:buFontTx/>
              <a:buChar char="-"/>
            </a:pPr>
            <a:r>
              <a:rPr lang="fr-FR" dirty="0"/>
              <a:t>La liste des contrats et numéros de téléphones des fournisseurs et prestataires informatiques, logistiques, transports…</a:t>
            </a:r>
          </a:p>
          <a:p>
            <a:pPr marL="342900" indent="-342900">
              <a:buFontTx/>
              <a:buChar char="-"/>
            </a:pPr>
            <a:r>
              <a:rPr lang="fr-FR" dirty="0"/>
              <a:t>Les procédures informatiques (base de connaissances)</a:t>
            </a:r>
          </a:p>
          <a:p>
            <a:pPr marL="342900" indent="-342900">
              <a:buFontTx/>
              <a:buChar char="-"/>
            </a:pPr>
            <a:r>
              <a:rPr lang="fr-FR" dirty="0"/>
              <a:t>Les mots de passe (</a:t>
            </a:r>
            <a:r>
              <a:rPr lang="fr-FR" dirty="0" err="1"/>
              <a:t>keypass</a:t>
            </a:r>
            <a:r>
              <a:rPr lang="fr-FR" dirty="0"/>
              <a:t> ou papiers dans le coffre par exemple)</a:t>
            </a:r>
          </a:p>
        </p:txBody>
      </p:sp>
      <p:sp>
        <p:nvSpPr>
          <p:cNvPr id="4" name="Rectangle 3"/>
          <p:cNvSpPr/>
          <p:nvPr/>
        </p:nvSpPr>
        <p:spPr>
          <a:xfrm>
            <a:off x="1710650" y="4347900"/>
            <a:ext cx="9800032" cy="646331"/>
          </a:xfrm>
          <a:prstGeom prst="rect">
            <a:avLst/>
          </a:prstGeom>
        </p:spPr>
        <p:txBody>
          <a:bodyPr wrap="square">
            <a:spAutoFit/>
          </a:bodyPr>
          <a:lstStyle/>
          <a:p>
            <a:r>
              <a:rPr lang="fr-FR" b="1" dirty="0"/>
              <a:t>Le plan de résilience complet doit être disponible hors ligne (sur un poste en mode autonome ou au format papier)</a:t>
            </a:r>
          </a:p>
        </p:txBody>
      </p:sp>
    </p:spTree>
    <p:extLst>
      <p:ext uri="{BB962C8B-B14F-4D97-AF65-F5344CB8AC3E}">
        <p14:creationId xmlns:p14="http://schemas.microsoft.com/office/powerpoint/2010/main" val="9785298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0650" y="598080"/>
            <a:ext cx="10069458" cy="750265"/>
          </a:xfrm>
        </p:spPr>
        <p:txBody>
          <a:bodyPr>
            <a:normAutofit/>
          </a:bodyPr>
          <a:lstStyle/>
          <a:p>
            <a:r>
              <a:rPr lang="fr-FR" dirty="0"/>
              <a:t>En 3 points: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49</a:t>
            </a:fld>
            <a:endParaRPr lang="en-US"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6104692"/>
            <a:ext cx="1005842" cy="396241"/>
          </a:xfrm>
          <a:prstGeom prst="rect">
            <a:avLst/>
          </a:prstGeom>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366" y="6135808"/>
            <a:ext cx="1713634" cy="441937"/>
          </a:xfrm>
          <a:prstGeom prst="rect">
            <a:avLst/>
          </a:prstGeom>
        </p:spPr>
      </p:pic>
      <p:sp>
        <p:nvSpPr>
          <p:cNvPr id="9" name="Espace réservé du pied de page 10"/>
          <p:cNvSpPr>
            <a:spLocks noGrp="1"/>
          </p:cNvSpPr>
          <p:nvPr>
            <p:ph type="ftr" sz="quarter" idx="11"/>
          </p:nvPr>
        </p:nvSpPr>
        <p:spPr>
          <a:xfrm>
            <a:off x="2589212" y="6135808"/>
            <a:ext cx="7619999" cy="365125"/>
          </a:xfrm>
        </p:spPr>
        <p:txBody>
          <a:bodyPr/>
          <a:lstStyle/>
          <a:p>
            <a:r>
              <a:rPr lang="it-IT" sz="1000" i="1" dirty="0"/>
              <a:t>PEI / CAI / SEC105- LR - 2020/2021 – VT 2023</a:t>
            </a:r>
            <a:endParaRPr lang="en-US" sz="1000" i="1" dirty="0"/>
          </a:p>
        </p:txBody>
      </p:sp>
      <p:sp>
        <p:nvSpPr>
          <p:cNvPr id="3" name="Rectangle 2"/>
          <p:cNvSpPr/>
          <p:nvPr/>
        </p:nvSpPr>
        <p:spPr>
          <a:xfrm>
            <a:off x="1457323" y="2553475"/>
            <a:ext cx="10734677" cy="1477328"/>
          </a:xfrm>
          <a:prstGeom prst="rect">
            <a:avLst/>
          </a:prstGeom>
        </p:spPr>
        <p:txBody>
          <a:bodyPr wrap="square">
            <a:spAutoFit/>
          </a:bodyPr>
          <a:lstStyle/>
          <a:p>
            <a:pPr marL="285750" indent="-285750">
              <a:buFontTx/>
              <a:buChar char="-"/>
            </a:pPr>
            <a:r>
              <a:rPr lang="fr-FR" b="1" dirty="0"/>
              <a:t>Disposer de solutions en mode dégradé métiers pour les activités prioritaires</a:t>
            </a:r>
          </a:p>
          <a:p>
            <a:r>
              <a:rPr lang="fr-FR" b="1" dirty="0"/>
              <a:t> </a:t>
            </a:r>
          </a:p>
          <a:p>
            <a:pPr marL="285750" indent="-285750">
              <a:buFontTx/>
              <a:buChar char="-"/>
            </a:pPr>
            <a:r>
              <a:rPr lang="fr-FR" b="1" dirty="0"/>
              <a:t>Tester régulièrement et mettre à jour les solutions techniques</a:t>
            </a:r>
          </a:p>
          <a:p>
            <a:endParaRPr lang="fr-FR" b="1" dirty="0"/>
          </a:p>
          <a:p>
            <a:pPr marL="285750" indent="-285750">
              <a:buFontTx/>
              <a:buChar char="-"/>
            </a:pPr>
            <a:r>
              <a:rPr lang="fr-FR" b="1" dirty="0"/>
              <a:t>Programmer régulièrement des exercices de simulation de crise</a:t>
            </a:r>
          </a:p>
        </p:txBody>
      </p:sp>
    </p:spTree>
    <p:extLst>
      <p:ext uri="{BB962C8B-B14F-4D97-AF65-F5344CB8AC3E}">
        <p14:creationId xmlns:p14="http://schemas.microsoft.com/office/powerpoint/2010/main" val="1038008629"/>
      </p:ext>
    </p:extLst>
  </p:cSld>
  <p:clrMapOvr>
    <a:masterClrMapping/>
  </p:clrMapOvr>
</p:sld>
</file>

<file path=ppt/theme/theme1.xml><?xml version="1.0" encoding="utf-8"?>
<a:theme xmlns:a="http://schemas.openxmlformats.org/drawingml/2006/main" name="Brin">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3161</TotalTime>
  <Words>5956</Words>
  <Application>Microsoft Office PowerPoint</Application>
  <PresentationFormat>Grand écran</PresentationFormat>
  <Paragraphs>614</Paragraphs>
  <Slides>49</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49</vt:i4>
      </vt:variant>
    </vt:vector>
  </HeadingPairs>
  <TitlesOfParts>
    <vt:vector size="55" baseType="lpstr">
      <vt:lpstr>Arial</vt:lpstr>
      <vt:lpstr>Calibri</vt:lpstr>
      <vt:lpstr>Cambria Math</vt:lpstr>
      <vt:lpstr>Century Gothic</vt:lpstr>
      <vt:lpstr>Wingdings 3</vt:lpstr>
      <vt:lpstr>Brin</vt:lpstr>
      <vt:lpstr>SEC105 – Architectures et bonnes pratiques pour la sécurité des systèmes, réseaux données et applications PEI Millau – Concepteur Architecte Informatique (toutes spécialités)</vt:lpstr>
      <vt:lpstr>Plan</vt:lpstr>
      <vt:lpstr>Définition simple : disponibilité</vt:lpstr>
      <vt:lpstr>Définition simple : Sureté de fonctionnement</vt:lpstr>
      <vt:lpstr>Définition simple : Défaillance</vt:lpstr>
      <vt:lpstr>La défaillance</vt:lpstr>
      <vt:lpstr>Définition simple : Fiabilité</vt:lpstr>
      <vt:lpstr>La Fiabilité</vt:lpstr>
      <vt:lpstr>La Fiabilité</vt:lpstr>
      <vt:lpstr>La Fiabilité</vt:lpstr>
      <vt:lpstr>FMD</vt:lpstr>
      <vt:lpstr>Définition simple : Datacenter</vt:lpstr>
      <vt:lpstr>Composantes d’un datacenter</vt:lpstr>
      <vt:lpstr>Norme ANSI/TIA-942 et niveaux de disponibilité d’un DataCenter</vt:lpstr>
      <vt:lpstr>Norme ANSI/TIA-942 et niveaux de disponibilité d’un DataCenter</vt:lpstr>
      <vt:lpstr>Norme ANSI/TIA-942 et niveaux de disponibilité d’un DataCenter</vt:lpstr>
      <vt:lpstr>Norme ANSI/TIA-942 : TIER</vt:lpstr>
      <vt:lpstr>Norme ANSI/TIA-942 : TIER I</vt:lpstr>
      <vt:lpstr>Norme ANSI/TIA-942 : TIER II</vt:lpstr>
      <vt:lpstr>Norme ANSI/TIA-942 : TIER III</vt:lpstr>
      <vt:lpstr>Norme ANSI/TIA-942 : TIER IV</vt:lpstr>
      <vt:lpstr>Disponibilité des serveurs</vt:lpstr>
      <vt:lpstr>Disponibilité des serveurs : stockage local</vt:lpstr>
      <vt:lpstr>Disponibilité des serveurs : Virtualisation du stockage</vt:lpstr>
      <vt:lpstr>Disponibilité des serveurs : Le réseau</vt:lpstr>
      <vt:lpstr>Les RTO et RPO</vt:lpstr>
      <vt:lpstr>La RPO</vt:lpstr>
      <vt:lpstr>Les PCA et PRA</vt:lpstr>
      <vt:lpstr>Les PCA et PRA</vt:lpstr>
      <vt:lpstr>Les PCA et PRA</vt:lpstr>
      <vt:lpstr>Les PCA et PRA</vt:lpstr>
      <vt:lpstr>Les PCA et PRA</vt:lpstr>
      <vt:lpstr>Exemple en milieu hospitalier</vt:lpstr>
      <vt:lpstr>Exemple : le PRA en milieu hospitalier</vt:lpstr>
      <vt:lpstr>Le plan de cyber résilience</vt:lpstr>
      <vt:lpstr>Les étapes en amont</vt:lpstr>
      <vt:lpstr>Les étapes en aval</vt:lpstr>
      <vt:lpstr>Le cloud est-il la solution ?</vt:lpstr>
      <vt:lpstr>L’externalisation est-elle une solution ?</vt:lpstr>
      <vt:lpstr>Cartographier les processus métiers</vt:lpstr>
      <vt:lpstr>Les procédures dégradées</vt:lpstr>
      <vt:lpstr>Le SI de secours pour les soignants</vt:lpstr>
      <vt:lpstr>La cellule d’intervention</vt:lpstr>
      <vt:lpstr>Les applications</vt:lpstr>
      <vt:lpstr>Les applications</vt:lpstr>
      <vt:lpstr>Les applications</vt:lpstr>
      <vt:lpstr>Les applications</vt:lpstr>
      <vt:lpstr>Les procédures</vt:lpstr>
      <vt:lpstr>En 3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RSX112 – Sécurité et Réseaux PEI Millau – Concepteur Architecte Informatique (toutes spécialités)</dc:title>
  <dc:creator>lr</dc:creator>
  <cp:lastModifiedBy>Michael</cp:lastModifiedBy>
  <cp:revision>111</cp:revision>
  <dcterms:created xsi:type="dcterms:W3CDTF">2018-04-03T08:57:16Z</dcterms:created>
  <dcterms:modified xsi:type="dcterms:W3CDTF">2025-03-19T08:30:44Z</dcterms:modified>
</cp:coreProperties>
</file>